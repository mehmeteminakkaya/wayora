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6256000" cy="9144000"/>
  <p:notesSz cx="6858000" cy="9144000"/>
  <p:embeddedFontLst>
    <p:embeddedFont>
      <p:font typeface="Nunito" panose="020F0502020204030204" pitchFamily="2" charset="-94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E8D8"/>
    <a:srgbClr val="F4E8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582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h38694ee34668a6ec_14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h38694ee34668a6ec_14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h38694ee34668a6ec_14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h38694ee34668a6ec_14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h38694ee34668a6ec_14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h38694ee34668a6ec_14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h38694ee34668a6ec_14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h38694ee34668a6ec_14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h38694ee34668a6ec_14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h38694ee34668a6ec_14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h38694ee34668a6ec_14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h38694ee34668a6ec_14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h38694ee34668a6ec_14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h38694ee34668a6ec_14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h38694ee34668a6ec_1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h38694ee34668a6ec_1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256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Dikdörtgen 2">
            <a:extLst>
              <a:ext uri="{FF2B5EF4-FFF2-40B4-BE49-F238E27FC236}">
                <a16:creationId xmlns:a16="http://schemas.microsoft.com/office/drawing/2014/main" id="{60945CBB-8538-E783-E7A1-F7744E36EA68}"/>
              </a:ext>
            </a:extLst>
          </p:cNvPr>
          <p:cNvSpPr/>
          <p:nvPr/>
        </p:nvSpPr>
        <p:spPr>
          <a:xfrm>
            <a:off x="14966066" y="8819909"/>
            <a:ext cx="1192192" cy="231494"/>
          </a:xfrm>
          <a:prstGeom prst="rect">
            <a:avLst/>
          </a:prstGeom>
          <a:solidFill>
            <a:srgbClr val="F4E8D8"/>
          </a:solidFill>
          <a:ln>
            <a:solidFill>
              <a:srgbClr val="F4E8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6255999" cy="9148861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4"/>
          <p:cNvSpPr/>
          <p:nvPr/>
        </p:nvSpPr>
        <p:spPr>
          <a:xfrm>
            <a:off x="1996100" y="5210075"/>
            <a:ext cx="3555900" cy="2362200"/>
          </a:xfrm>
          <a:prstGeom prst="roundRect">
            <a:avLst>
              <a:gd name="adj" fmla="val 16667"/>
            </a:avLst>
          </a:prstGeom>
          <a:solidFill>
            <a:srgbClr val="FAF7EF"/>
          </a:solidFill>
          <a:ln w="15250" cap="flat" cmpd="sng">
            <a:solidFill>
              <a:srgbClr val="1B181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4"/>
          <p:cNvSpPr txBox="1"/>
          <p:nvPr/>
        </p:nvSpPr>
        <p:spPr>
          <a:xfrm>
            <a:off x="2250100" y="5333375"/>
            <a:ext cx="567300" cy="1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rgbClr val="B6472B"/>
                </a:solidFill>
              </a:rPr>
              <a:t>1</a:t>
            </a:r>
            <a:endParaRPr sz="2600" b="1">
              <a:solidFill>
                <a:srgbClr val="B6472B"/>
              </a:solidFill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2250100" y="5830500"/>
            <a:ext cx="3022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1B1814"/>
                </a:solidFill>
              </a:rPr>
              <a:t>Dağınık bilgi</a:t>
            </a:r>
            <a:endParaRPr sz="2200" b="1">
              <a:solidFill>
                <a:srgbClr val="1B1814"/>
              </a:solidFill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2275500" y="6454525"/>
            <a:ext cx="30225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6B6154"/>
                </a:solidFill>
              </a:rPr>
              <a:t>Araştırma, harita ve bütçe</a:t>
            </a:r>
            <a:endParaRPr sz="1600">
              <a:solidFill>
                <a:srgbClr val="6B6154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6B6154"/>
                </a:solidFill>
              </a:rPr>
              <a:t>farklı yerlerde.</a:t>
            </a:r>
            <a:endParaRPr sz="1600">
              <a:solidFill>
                <a:srgbClr val="6B6154"/>
              </a:solidFill>
            </a:endParaRPr>
          </a:p>
        </p:txBody>
      </p:sp>
      <p:sp>
        <p:nvSpPr>
          <p:cNvPr id="94" name="Google Shape;94;p14"/>
          <p:cNvSpPr/>
          <p:nvPr/>
        </p:nvSpPr>
        <p:spPr>
          <a:xfrm>
            <a:off x="6060100" y="5210075"/>
            <a:ext cx="3555900" cy="2362200"/>
          </a:xfrm>
          <a:prstGeom prst="roundRect">
            <a:avLst>
              <a:gd name="adj" fmla="val 16667"/>
            </a:avLst>
          </a:prstGeom>
          <a:solidFill>
            <a:srgbClr val="FAF7EF"/>
          </a:solidFill>
          <a:ln w="15250" cap="flat" cmpd="sng">
            <a:solidFill>
              <a:srgbClr val="1B181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6314100" y="5320775"/>
            <a:ext cx="5673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rgbClr val="B6472B"/>
                </a:solidFill>
              </a:rPr>
              <a:t>2</a:t>
            </a:r>
            <a:endParaRPr sz="2600" b="1">
              <a:solidFill>
                <a:srgbClr val="B6472B"/>
              </a:solidFill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6314100" y="5830500"/>
            <a:ext cx="3086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1B1814"/>
                </a:solidFill>
              </a:rPr>
              <a:t>Kişiye uymayan öneriler</a:t>
            </a:r>
            <a:endParaRPr sz="2100" b="1">
              <a:solidFill>
                <a:srgbClr val="1B1814"/>
              </a:solidFill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6314100" y="6649200"/>
            <a:ext cx="30225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6B6154"/>
                </a:solidFill>
              </a:rPr>
              <a:t>İlgi alanı, bütçe ve tempo</a:t>
            </a:r>
            <a:endParaRPr sz="1600">
              <a:solidFill>
                <a:srgbClr val="6B6154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6B6154"/>
                </a:solidFill>
              </a:rPr>
              <a:t>çoğu zaman hesaba katılmaz.</a:t>
            </a:r>
            <a:endParaRPr sz="1600">
              <a:solidFill>
                <a:srgbClr val="6B6154"/>
              </a:solidFill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10124100" y="5210075"/>
            <a:ext cx="3555900" cy="2362200"/>
          </a:xfrm>
          <a:prstGeom prst="roundRect">
            <a:avLst>
              <a:gd name="adj" fmla="val 16667"/>
            </a:avLst>
          </a:prstGeom>
          <a:solidFill>
            <a:srgbClr val="FAF7EF"/>
          </a:solidFill>
          <a:ln w="15250" cap="flat" cmpd="sng">
            <a:solidFill>
              <a:srgbClr val="1B181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10378100" y="5333375"/>
            <a:ext cx="567300" cy="1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rgbClr val="B6472B"/>
                </a:solidFill>
              </a:rPr>
              <a:t>3</a:t>
            </a:r>
            <a:endParaRPr sz="2600" b="1">
              <a:solidFill>
                <a:srgbClr val="B6472B"/>
              </a:solidFill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10378100" y="5830500"/>
            <a:ext cx="3022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1B1814"/>
                </a:solidFill>
              </a:rPr>
              <a:t>Değişince başa dönmek</a:t>
            </a:r>
            <a:endParaRPr sz="2200" b="1">
              <a:solidFill>
                <a:srgbClr val="1B1814"/>
              </a:solidFill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10378100" y="6649200"/>
            <a:ext cx="30225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6B6154"/>
                </a:solidFill>
              </a:rPr>
              <a:t>Plan değiştiğinde rota</a:t>
            </a:r>
            <a:endParaRPr sz="1600">
              <a:solidFill>
                <a:srgbClr val="6B6154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6B6154"/>
                </a:solidFill>
              </a:rPr>
              <a:t>yeniden kurulur.</a:t>
            </a:r>
            <a:endParaRPr sz="1600">
              <a:solidFill>
                <a:srgbClr val="6B6154"/>
              </a:solidFill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13208000" y="8585200"/>
            <a:ext cx="1778100" cy="1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rgbClr val="6B6154"/>
              </a:solidFill>
            </a:endParaRPr>
          </a:p>
        </p:txBody>
      </p:sp>
      <p:pic>
        <p:nvPicPr>
          <p:cNvPr id="103" name="Google Shape;10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99775" y="670100"/>
            <a:ext cx="8146444" cy="4036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13456000" y="157350"/>
            <a:ext cx="27999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B6472B"/>
                </a:solidFill>
              </a:rPr>
              <a:t>02 / PROBLEM</a:t>
            </a:r>
            <a:endParaRPr sz="1200" b="1">
              <a:solidFill>
                <a:srgbClr val="B6472B"/>
              </a:solidFill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939800" y="685750"/>
            <a:ext cx="9825300" cy="11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800" b="1">
                <a:solidFill>
                  <a:srgbClr val="1B1814"/>
                </a:solidFill>
              </a:rPr>
              <a:t>Planlama, gezinin önüne geçmesin.</a:t>
            </a:r>
            <a:endParaRPr sz="5800" b="1">
              <a:solidFill>
                <a:srgbClr val="1B1814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6255999" cy="914886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/>
          <p:nvPr/>
        </p:nvSpPr>
        <p:spPr>
          <a:xfrm>
            <a:off x="939800" y="2349450"/>
            <a:ext cx="5008200" cy="1600200"/>
          </a:xfrm>
          <a:prstGeom prst="roundRect">
            <a:avLst>
              <a:gd name="adj" fmla="val 16667"/>
            </a:avLst>
          </a:prstGeom>
          <a:solidFill>
            <a:srgbClr val="FAF7EF"/>
          </a:solidFill>
          <a:ln w="19050" cap="flat" cmpd="sng">
            <a:solidFill>
              <a:srgbClr val="1B181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1371600" y="2832050"/>
            <a:ext cx="8637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rgbClr val="B6472B"/>
                </a:solidFill>
              </a:rPr>
              <a:t>1</a:t>
            </a:r>
            <a:endParaRPr sz="2600" b="1">
              <a:solidFill>
                <a:srgbClr val="B6472B"/>
              </a:solidFill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2068025" y="2705050"/>
            <a:ext cx="88899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1B1814"/>
                </a:solidFill>
              </a:rPr>
              <a:t>Tercihleri gir</a:t>
            </a:r>
            <a:endParaRPr sz="2200" b="1">
              <a:solidFill>
                <a:srgbClr val="1B1814"/>
              </a:solidFill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2068025" y="3251150"/>
            <a:ext cx="88899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6B6154"/>
                </a:solidFill>
              </a:rPr>
              <a:t>İlgi alanı, bütçe, tempo.</a:t>
            </a:r>
            <a:endParaRPr sz="1600">
              <a:solidFill>
                <a:srgbClr val="6B6154"/>
              </a:solidFill>
            </a:endParaRPr>
          </a:p>
        </p:txBody>
      </p:sp>
      <p:sp>
        <p:nvSpPr>
          <p:cNvPr id="115" name="Google Shape;115;p15"/>
          <p:cNvSpPr/>
          <p:nvPr/>
        </p:nvSpPr>
        <p:spPr>
          <a:xfrm>
            <a:off x="939800" y="4362425"/>
            <a:ext cx="5008200" cy="1600200"/>
          </a:xfrm>
          <a:prstGeom prst="roundRect">
            <a:avLst>
              <a:gd name="adj" fmla="val 16667"/>
            </a:avLst>
          </a:prstGeom>
          <a:solidFill>
            <a:srgbClr val="FAF7EF"/>
          </a:solidFill>
          <a:ln w="19050" cap="flat" cmpd="sng">
            <a:solidFill>
              <a:srgbClr val="1B181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1371600" y="4845025"/>
            <a:ext cx="8637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rgbClr val="B6472B"/>
                </a:solidFill>
              </a:rPr>
              <a:t>2</a:t>
            </a:r>
            <a:endParaRPr sz="2600" b="1">
              <a:solidFill>
                <a:srgbClr val="B6472B"/>
              </a:solidFill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2068025" y="4718025"/>
            <a:ext cx="88899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1B1814"/>
                </a:solidFill>
              </a:rPr>
              <a:t>Gezinin çerçevesini çiz</a:t>
            </a:r>
            <a:endParaRPr sz="2200" b="1">
              <a:solidFill>
                <a:srgbClr val="1B1814"/>
              </a:solidFill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2068025" y="5264125"/>
            <a:ext cx="88899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6B6154"/>
                </a:solidFill>
              </a:rPr>
              <a:t>Şehir, tarih, bütçe.</a:t>
            </a:r>
            <a:endParaRPr sz="1600">
              <a:solidFill>
                <a:srgbClr val="6B6154"/>
              </a:solidFill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939800" y="6375400"/>
            <a:ext cx="5008200" cy="1600200"/>
          </a:xfrm>
          <a:prstGeom prst="roundRect">
            <a:avLst>
              <a:gd name="adj" fmla="val 16667"/>
            </a:avLst>
          </a:prstGeom>
          <a:solidFill>
            <a:srgbClr val="FAF7EF"/>
          </a:solidFill>
          <a:ln w="19050" cap="flat" cmpd="sng">
            <a:solidFill>
              <a:srgbClr val="1B181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1371600" y="6858000"/>
            <a:ext cx="8637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rgbClr val="B6472B"/>
                </a:solidFill>
              </a:rPr>
              <a:t>3</a:t>
            </a:r>
            <a:endParaRPr sz="2600" b="1">
              <a:solidFill>
                <a:srgbClr val="B6472B"/>
              </a:solidFill>
            </a:endParaRPr>
          </a:p>
        </p:txBody>
      </p:sp>
      <p:sp>
        <p:nvSpPr>
          <p:cNvPr id="121" name="Google Shape;121;p15"/>
          <p:cNvSpPr txBox="1"/>
          <p:nvPr/>
        </p:nvSpPr>
        <p:spPr>
          <a:xfrm>
            <a:off x="2068025" y="6731000"/>
            <a:ext cx="88899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1B1814"/>
                </a:solidFill>
              </a:rPr>
              <a:t>Planı kendine göre düzenle</a:t>
            </a:r>
            <a:endParaRPr sz="2200" b="1">
              <a:solidFill>
                <a:srgbClr val="1B1814"/>
              </a:solidFill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2068025" y="7277100"/>
            <a:ext cx="88899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6B6154"/>
                </a:solidFill>
              </a:rPr>
              <a:t>Ekle, çıkar, saati değiştir.</a:t>
            </a:r>
            <a:endParaRPr sz="1600">
              <a:solidFill>
                <a:srgbClr val="6B6154"/>
              </a:solidFill>
            </a:endParaRPr>
          </a:p>
        </p:txBody>
      </p:sp>
      <p:pic>
        <p:nvPicPr>
          <p:cNvPr id="123" name="Google Shape;12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94251" y="2549100"/>
            <a:ext cx="9386700" cy="469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13456000" y="157350"/>
            <a:ext cx="27999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B6472B"/>
                </a:solidFill>
              </a:rPr>
              <a:t>03 / ÇÖZÜM</a:t>
            </a:r>
            <a:endParaRPr sz="1200" b="1">
              <a:solidFill>
                <a:srgbClr val="B6472B"/>
              </a:solidFill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939800" y="685750"/>
            <a:ext cx="9825300" cy="11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800" b="1">
                <a:solidFill>
                  <a:srgbClr val="1B1814"/>
                </a:solidFill>
              </a:rPr>
              <a:t>Üç adımda kişisel rota</a:t>
            </a:r>
            <a:endParaRPr sz="5800" b="1">
              <a:solidFill>
                <a:srgbClr val="1B1814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6255999" cy="914886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/>
          <p:nvPr/>
        </p:nvSpPr>
        <p:spPr>
          <a:xfrm>
            <a:off x="5735575" y="2576575"/>
            <a:ext cx="9334500" cy="3200400"/>
          </a:xfrm>
          <a:prstGeom prst="roundRect">
            <a:avLst>
              <a:gd name="adj" fmla="val 16667"/>
            </a:avLst>
          </a:prstGeom>
          <a:solidFill>
            <a:srgbClr val="FAF7EF"/>
          </a:solidFill>
          <a:ln w="15250" cap="flat" cmpd="sng">
            <a:solidFill>
              <a:srgbClr val="1B181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 txBox="1"/>
          <p:nvPr/>
        </p:nvSpPr>
        <p:spPr>
          <a:xfrm>
            <a:off x="6116575" y="2576575"/>
            <a:ext cx="8637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00" b="1">
                <a:solidFill>
                  <a:srgbClr val="B6472B"/>
                </a:solidFill>
              </a:rPr>
              <a:t>“</a:t>
            </a:r>
            <a:endParaRPr sz="6200" b="1">
              <a:solidFill>
                <a:srgbClr val="B6472B"/>
              </a:solidFill>
            </a:endParaRPr>
          </a:p>
        </p:txBody>
      </p:sp>
      <p:sp>
        <p:nvSpPr>
          <p:cNvPr id="133" name="Google Shape;133;p16"/>
          <p:cNvSpPr txBox="1"/>
          <p:nvPr/>
        </p:nvSpPr>
        <p:spPr>
          <a:xfrm>
            <a:off x="6878575" y="3262375"/>
            <a:ext cx="7493100" cy="15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rgbClr val="1B1814"/>
                </a:solidFill>
              </a:rPr>
              <a:t>2–7 günlük şehir gezimi</a:t>
            </a:r>
            <a:endParaRPr sz="2500" b="1">
              <a:solidFill>
                <a:srgbClr val="1B1814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rgbClr val="1B1814"/>
                </a:solidFill>
              </a:rPr>
              <a:t>bütçeme ve tempoma göre</a:t>
            </a:r>
            <a:endParaRPr sz="2500" b="1">
              <a:solidFill>
                <a:srgbClr val="1B1814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rgbClr val="1B1814"/>
                </a:solidFill>
              </a:rPr>
              <a:t>gün gün planlamak istiyorum.</a:t>
            </a:r>
            <a:endParaRPr sz="2500" b="1">
              <a:solidFill>
                <a:srgbClr val="1B1814"/>
              </a:solidFill>
            </a:endParaRPr>
          </a:p>
        </p:txBody>
      </p:sp>
      <p:sp>
        <p:nvSpPr>
          <p:cNvPr id="134" name="Google Shape;134;p16"/>
          <p:cNvSpPr txBox="1"/>
          <p:nvPr/>
        </p:nvSpPr>
        <p:spPr>
          <a:xfrm>
            <a:off x="6878575" y="5065775"/>
            <a:ext cx="2031900" cy="1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B6472B"/>
                </a:solidFill>
              </a:rPr>
              <a:t> USER STORY</a:t>
            </a:r>
            <a:endParaRPr sz="1000" b="1">
              <a:solidFill>
                <a:srgbClr val="B6472B"/>
              </a:solidFill>
            </a:endParaRPr>
          </a:p>
        </p:txBody>
      </p:sp>
      <p:sp>
        <p:nvSpPr>
          <p:cNvPr id="135" name="Google Shape;135;p16"/>
          <p:cNvSpPr txBox="1"/>
          <p:nvPr/>
        </p:nvSpPr>
        <p:spPr>
          <a:xfrm>
            <a:off x="14030225" y="4862575"/>
            <a:ext cx="8637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00" b="1">
                <a:solidFill>
                  <a:srgbClr val="B6472B"/>
                </a:solidFill>
              </a:rPr>
              <a:t>“</a:t>
            </a:r>
            <a:endParaRPr sz="6200" b="1">
              <a:solidFill>
                <a:srgbClr val="B6472B"/>
              </a:solidFill>
            </a:endParaRPr>
          </a:p>
        </p:txBody>
      </p:sp>
      <p:pic>
        <p:nvPicPr>
          <p:cNvPr id="136" name="Google Shape;13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8000" y="3246213"/>
            <a:ext cx="4708124" cy="4708124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13456000" y="157350"/>
            <a:ext cx="27999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B6472B"/>
                </a:solidFill>
              </a:rPr>
              <a:t>04 / HEDEF KULLANICI</a:t>
            </a:r>
            <a:endParaRPr sz="1200" b="1">
              <a:solidFill>
                <a:srgbClr val="B6472B"/>
              </a:solidFill>
            </a:endParaRPr>
          </a:p>
        </p:txBody>
      </p:sp>
      <p:sp>
        <p:nvSpPr>
          <p:cNvPr id="138" name="Google Shape;138;p16"/>
          <p:cNvSpPr txBox="1"/>
          <p:nvPr/>
        </p:nvSpPr>
        <p:spPr>
          <a:xfrm>
            <a:off x="939800" y="685750"/>
            <a:ext cx="9825300" cy="11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800" b="1">
                <a:solidFill>
                  <a:srgbClr val="1B1814"/>
                </a:solidFill>
              </a:rPr>
              <a:t>Kimin için?</a:t>
            </a:r>
            <a:endParaRPr sz="5800" b="1">
              <a:solidFill>
                <a:srgbClr val="1B1814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6255999" cy="91488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78775" y="1694199"/>
            <a:ext cx="8154388" cy="6067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9176465">
            <a:off x="2215608" y="4841526"/>
            <a:ext cx="2609734" cy="781473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 txBox="1"/>
          <p:nvPr/>
        </p:nvSpPr>
        <p:spPr>
          <a:xfrm rot="-537614">
            <a:off x="214185" y="5335681"/>
            <a:ext cx="2234367" cy="492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B6472B"/>
                </a:solidFill>
                <a:latin typeface="Nunito"/>
                <a:ea typeface="Nunito"/>
                <a:cs typeface="Nunito"/>
                <a:sym typeface="Nunito"/>
              </a:rPr>
              <a:t>İlgi alanlarını seç</a:t>
            </a:r>
            <a:endParaRPr sz="2000" b="1">
              <a:solidFill>
                <a:srgbClr val="B6472B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47" name="Google Shape;147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024361">
            <a:off x="11938826" y="4899603"/>
            <a:ext cx="2285024" cy="781467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 txBox="1"/>
          <p:nvPr/>
        </p:nvSpPr>
        <p:spPr>
          <a:xfrm rot="-537614">
            <a:off x="13342560" y="5637531"/>
            <a:ext cx="2234367" cy="492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B6472B"/>
                </a:solidFill>
                <a:latin typeface="Nunito"/>
                <a:ea typeface="Nunito"/>
                <a:cs typeface="Nunito"/>
                <a:sym typeface="Nunito"/>
              </a:rPr>
              <a:t>Bütçeni belirle</a:t>
            </a:r>
            <a:endParaRPr sz="2000" b="1">
              <a:solidFill>
                <a:srgbClr val="B6472B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49" name="Google Shape;14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2169531">
            <a:off x="5780448" y="7207865"/>
            <a:ext cx="2207204" cy="78144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7"/>
          <p:cNvSpPr txBox="1"/>
          <p:nvPr/>
        </p:nvSpPr>
        <p:spPr>
          <a:xfrm rot="-159337">
            <a:off x="6713407" y="8335096"/>
            <a:ext cx="2486370" cy="49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B6472B"/>
                </a:solidFill>
                <a:latin typeface="Nunito"/>
                <a:ea typeface="Nunito"/>
                <a:cs typeface="Nunito"/>
                <a:sym typeface="Nunito"/>
              </a:rPr>
              <a:t>Planlamaya başla</a:t>
            </a:r>
            <a:endParaRPr sz="2000" b="1">
              <a:solidFill>
                <a:srgbClr val="B6472B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1" name="Google Shape;151;p17"/>
          <p:cNvSpPr txBox="1"/>
          <p:nvPr/>
        </p:nvSpPr>
        <p:spPr>
          <a:xfrm>
            <a:off x="13456000" y="157350"/>
            <a:ext cx="27999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B6472B"/>
                </a:solidFill>
              </a:rPr>
              <a:t>05 / AKIŞ 1</a:t>
            </a:r>
            <a:endParaRPr sz="1200" b="1">
              <a:solidFill>
                <a:srgbClr val="B6472B"/>
              </a:solidFill>
            </a:endParaRPr>
          </a:p>
        </p:txBody>
      </p:sp>
      <p:sp>
        <p:nvSpPr>
          <p:cNvPr id="152" name="Google Shape;152;p17"/>
          <p:cNvSpPr txBox="1"/>
          <p:nvPr/>
        </p:nvSpPr>
        <p:spPr>
          <a:xfrm>
            <a:off x="4128000" y="455350"/>
            <a:ext cx="80001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800" b="1">
                <a:solidFill>
                  <a:srgbClr val="1B1814"/>
                </a:solidFill>
              </a:rPr>
              <a:t>AKIŞ 1</a:t>
            </a:r>
            <a:endParaRPr sz="5800" b="1">
              <a:solidFill>
                <a:srgbClr val="1B1814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6255999" cy="91488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37236" y="1358600"/>
            <a:ext cx="10203124" cy="684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9176472">
            <a:off x="2025631" y="4312276"/>
            <a:ext cx="3024562" cy="7814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2193204">
            <a:off x="11293407" y="4860101"/>
            <a:ext cx="2609734" cy="7814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8099910">
            <a:off x="7635495" y="6670688"/>
            <a:ext cx="3989909" cy="781473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 txBox="1"/>
          <p:nvPr/>
        </p:nvSpPr>
        <p:spPr>
          <a:xfrm rot="-629438">
            <a:off x="193405" y="4921190"/>
            <a:ext cx="2234246" cy="800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B6472B"/>
                </a:solidFill>
                <a:latin typeface="Nunito"/>
                <a:ea typeface="Nunito"/>
                <a:cs typeface="Nunito"/>
                <a:sym typeface="Nunito"/>
              </a:rPr>
              <a:t>Gezmek istediğin şehri seç</a:t>
            </a:r>
            <a:endParaRPr sz="2000" b="1">
              <a:solidFill>
                <a:srgbClr val="B6472B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3" name="Google Shape;163;p18"/>
          <p:cNvSpPr txBox="1"/>
          <p:nvPr/>
        </p:nvSpPr>
        <p:spPr>
          <a:xfrm rot="-629438">
            <a:off x="6183480" y="8276540"/>
            <a:ext cx="2234246" cy="492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B6472B"/>
                </a:solidFill>
                <a:latin typeface="Nunito"/>
                <a:ea typeface="Nunito"/>
                <a:cs typeface="Nunito"/>
                <a:sym typeface="Nunito"/>
              </a:rPr>
              <a:t>Bütçeni belirle</a:t>
            </a:r>
            <a:endParaRPr sz="2000" b="1">
              <a:solidFill>
                <a:srgbClr val="B6472B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4" name="Google Shape;164;p18"/>
          <p:cNvSpPr txBox="1"/>
          <p:nvPr/>
        </p:nvSpPr>
        <p:spPr>
          <a:xfrm rot="137123">
            <a:off x="13149369" y="6106649"/>
            <a:ext cx="2234377" cy="492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B6472B"/>
                </a:solidFill>
                <a:latin typeface="Nunito"/>
                <a:ea typeface="Nunito"/>
                <a:cs typeface="Nunito"/>
                <a:sym typeface="Nunito"/>
              </a:rPr>
              <a:t>Tarihleri belirle</a:t>
            </a:r>
            <a:endParaRPr sz="2000" b="1">
              <a:solidFill>
                <a:srgbClr val="B6472B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5" name="Google Shape;165;p18"/>
          <p:cNvSpPr txBox="1"/>
          <p:nvPr/>
        </p:nvSpPr>
        <p:spPr>
          <a:xfrm>
            <a:off x="13456000" y="157350"/>
            <a:ext cx="27999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B6472B"/>
                </a:solidFill>
              </a:rPr>
              <a:t>06 / AKIŞ 2</a:t>
            </a:r>
            <a:endParaRPr sz="1200" b="1">
              <a:solidFill>
                <a:srgbClr val="B6472B"/>
              </a:solidFill>
            </a:endParaRPr>
          </a:p>
        </p:txBody>
      </p:sp>
      <p:sp>
        <p:nvSpPr>
          <p:cNvPr id="166" name="Google Shape;166;p18"/>
          <p:cNvSpPr txBox="1"/>
          <p:nvPr/>
        </p:nvSpPr>
        <p:spPr>
          <a:xfrm>
            <a:off x="4128000" y="455350"/>
            <a:ext cx="80001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800" b="1">
                <a:solidFill>
                  <a:srgbClr val="1B1814"/>
                </a:solidFill>
              </a:rPr>
              <a:t>AKIŞ 2</a:t>
            </a:r>
            <a:endParaRPr sz="5800" b="1">
              <a:solidFill>
                <a:srgbClr val="1B1814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6255999" cy="91488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45588" y="2449725"/>
            <a:ext cx="13022024" cy="3884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8741803">
            <a:off x="11639082" y="6454700"/>
            <a:ext cx="2609733" cy="781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8430394">
            <a:off x="11184378" y="2172252"/>
            <a:ext cx="2254672" cy="609344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/>
        </p:nvSpPr>
        <p:spPr>
          <a:xfrm rot="-537617">
            <a:off x="10471049" y="1158486"/>
            <a:ext cx="2606103" cy="492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B6472B"/>
                </a:solidFill>
                <a:latin typeface="Nunito"/>
                <a:ea typeface="Nunito"/>
                <a:cs typeface="Nunito"/>
                <a:sym typeface="Nunito"/>
              </a:rPr>
              <a:t>Kendin durak ekle</a:t>
            </a:r>
            <a:endParaRPr sz="2000" b="1">
              <a:solidFill>
                <a:srgbClr val="B6472B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6" name="Google Shape;176;p19"/>
          <p:cNvSpPr txBox="1"/>
          <p:nvPr/>
        </p:nvSpPr>
        <p:spPr>
          <a:xfrm rot="1041498">
            <a:off x="9663788" y="7157065"/>
            <a:ext cx="2640557" cy="492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B6472B"/>
                </a:solidFill>
                <a:latin typeface="Nunito"/>
                <a:ea typeface="Nunito"/>
                <a:cs typeface="Nunito"/>
                <a:sym typeface="Nunito"/>
              </a:rPr>
              <a:t>Duraklarını düzenle</a:t>
            </a:r>
            <a:endParaRPr sz="2000" b="1">
              <a:solidFill>
                <a:srgbClr val="B6472B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7" name="Google Shape;177;p19"/>
          <p:cNvSpPr txBox="1"/>
          <p:nvPr/>
        </p:nvSpPr>
        <p:spPr>
          <a:xfrm>
            <a:off x="13456000" y="157350"/>
            <a:ext cx="27999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B6472B"/>
                </a:solidFill>
              </a:rPr>
              <a:t>07 / AKIŞ 3</a:t>
            </a:r>
            <a:endParaRPr sz="1200" b="1">
              <a:solidFill>
                <a:srgbClr val="B6472B"/>
              </a:solidFill>
            </a:endParaRPr>
          </a:p>
        </p:txBody>
      </p:sp>
      <p:sp>
        <p:nvSpPr>
          <p:cNvPr id="178" name="Google Shape;178;p19"/>
          <p:cNvSpPr txBox="1"/>
          <p:nvPr/>
        </p:nvSpPr>
        <p:spPr>
          <a:xfrm>
            <a:off x="4128000" y="455350"/>
            <a:ext cx="80001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800" b="1">
                <a:solidFill>
                  <a:srgbClr val="1B1814"/>
                </a:solidFill>
              </a:rPr>
              <a:t>AKIŞ 3</a:t>
            </a:r>
            <a:endParaRPr sz="5800" b="1">
              <a:solidFill>
                <a:srgbClr val="1B1814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6255999" cy="91488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10425" y="1435975"/>
            <a:ext cx="13604050" cy="765227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0"/>
          <p:cNvSpPr txBox="1"/>
          <p:nvPr/>
        </p:nvSpPr>
        <p:spPr>
          <a:xfrm>
            <a:off x="13456000" y="157350"/>
            <a:ext cx="27999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B6472B"/>
                </a:solidFill>
              </a:rPr>
              <a:t>08 / WORKFLOW</a:t>
            </a:r>
            <a:endParaRPr sz="1200" b="1">
              <a:solidFill>
                <a:srgbClr val="B6472B"/>
              </a:solidFill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4128000" y="455350"/>
            <a:ext cx="80001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800" b="1">
                <a:solidFill>
                  <a:srgbClr val="1B1814"/>
                </a:solidFill>
              </a:rPr>
              <a:t>WORKFLOW</a:t>
            </a:r>
            <a:endParaRPr sz="5800" b="1">
              <a:solidFill>
                <a:srgbClr val="1B1814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6255999" cy="91488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16256002" cy="914400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1"/>
          <p:cNvSpPr txBox="1"/>
          <p:nvPr/>
        </p:nvSpPr>
        <p:spPr>
          <a:xfrm>
            <a:off x="13456000" y="157350"/>
            <a:ext cx="27999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B6472B"/>
                </a:solidFill>
              </a:rPr>
              <a:t>09 / AI</a:t>
            </a:r>
            <a:endParaRPr sz="1200" b="1">
              <a:solidFill>
                <a:srgbClr val="B6472B"/>
              </a:solidFill>
            </a:endParaRPr>
          </a:p>
        </p:txBody>
      </p:sp>
      <p:sp>
        <p:nvSpPr>
          <p:cNvPr id="194" name="Google Shape;194;p21"/>
          <p:cNvSpPr txBox="1"/>
          <p:nvPr/>
        </p:nvSpPr>
        <p:spPr>
          <a:xfrm>
            <a:off x="4128000" y="455350"/>
            <a:ext cx="80001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800" b="1">
                <a:solidFill>
                  <a:srgbClr val="1B1814"/>
                </a:solidFill>
              </a:rPr>
              <a:t>AI</a:t>
            </a:r>
            <a:endParaRPr sz="5800" b="1">
              <a:solidFill>
                <a:srgbClr val="1B1814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425"/>
            <a:ext cx="16255999" cy="9148861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2"/>
          <p:cNvSpPr/>
          <p:nvPr/>
        </p:nvSpPr>
        <p:spPr>
          <a:xfrm>
            <a:off x="800000" y="1905800"/>
            <a:ext cx="4888200" cy="1994100"/>
          </a:xfrm>
          <a:prstGeom prst="roundRect">
            <a:avLst>
              <a:gd name="adj" fmla="val 16667"/>
            </a:avLst>
          </a:prstGeom>
          <a:solidFill>
            <a:srgbClr val="1D1916"/>
          </a:solidFill>
          <a:ln w="36750" cap="flat" cmpd="sng">
            <a:solidFill>
              <a:srgbClr val="F5ED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7600" tIns="117600" rIns="117600" bIns="117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2"/>
          <p:cNvSpPr txBox="1"/>
          <p:nvPr/>
        </p:nvSpPr>
        <p:spPr>
          <a:xfrm>
            <a:off x="1121553" y="2220921"/>
            <a:ext cx="615900" cy="4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600" tIns="117600" rIns="117600" bIns="1176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72" b="1">
                <a:solidFill>
                  <a:srgbClr val="D75D3B"/>
                </a:solidFill>
              </a:rPr>
              <a:t>01</a:t>
            </a:r>
            <a:endParaRPr sz="2572" b="1">
              <a:solidFill>
                <a:srgbClr val="D75D3B"/>
              </a:solidFill>
            </a:endParaRPr>
          </a:p>
        </p:txBody>
      </p:sp>
      <p:sp>
        <p:nvSpPr>
          <p:cNvPr id="202" name="Google Shape;202;p22"/>
          <p:cNvSpPr txBox="1"/>
          <p:nvPr/>
        </p:nvSpPr>
        <p:spPr>
          <a:xfrm>
            <a:off x="1893281" y="2208059"/>
            <a:ext cx="3344100" cy="5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600" tIns="117600" rIns="117600" bIns="1176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58" b="1">
                <a:solidFill>
                  <a:srgbClr val="F5EDDF"/>
                </a:solidFill>
              </a:rPr>
              <a:t>Kimlik ve erişim</a:t>
            </a:r>
            <a:endParaRPr sz="2958" b="1">
              <a:solidFill>
                <a:srgbClr val="F5EDDF"/>
              </a:solidFill>
            </a:endParaRPr>
          </a:p>
        </p:txBody>
      </p:sp>
      <p:sp>
        <p:nvSpPr>
          <p:cNvPr id="203" name="Google Shape;203;p22"/>
          <p:cNvSpPr txBox="1"/>
          <p:nvPr/>
        </p:nvSpPr>
        <p:spPr>
          <a:xfrm>
            <a:off x="1121553" y="2999077"/>
            <a:ext cx="4244700" cy="5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600" tIns="117600" rIns="117600" bIns="1176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1">
                <a:solidFill>
                  <a:srgbClr val="AD9E8C"/>
                </a:solidFill>
              </a:rPr>
              <a:t>JWT oturumu, httpOnly cookie, bcrypt, kullanıcıya özel erişim</a:t>
            </a:r>
            <a:endParaRPr sz="1801">
              <a:solidFill>
                <a:srgbClr val="AD9E8C"/>
              </a:solidFill>
            </a:endParaRPr>
          </a:p>
        </p:txBody>
      </p:sp>
      <p:sp>
        <p:nvSpPr>
          <p:cNvPr id="204" name="Google Shape;204;p22"/>
          <p:cNvSpPr/>
          <p:nvPr/>
        </p:nvSpPr>
        <p:spPr>
          <a:xfrm>
            <a:off x="10433733" y="1905800"/>
            <a:ext cx="4888200" cy="1994100"/>
          </a:xfrm>
          <a:prstGeom prst="roundRect">
            <a:avLst>
              <a:gd name="adj" fmla="val 16667"/>
            </a:avLst>
          </a:prstGeom>
          <a:solidFill>
            <a:srgbClr val="1D1916"/>
          </a:solidFill>
          <a:ln w="36750" cap="flat" cmpd="sng">
            <a:solidFill>
              <a:srgbClr val="F5ED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7600" tIns="117600" rIns="117600" bIns="117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2"/>
          <p:cNvSpPr txBox="1"/>
          <p:nvPr/>
        </p:nvSpPr>
        <p:spPr>
          <a:xfrm>
            <a:off x="10755286" y="2220921"/>
            <a:ext cx="701700" cy="4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600" tIns="117600" rIns="117600" bIns="1176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72" b="1">
                <a:solidFill>
                  <a:srgbClr val="D75D3B"/>
                </a:solidFill>
              </a:rPr>
              <a:t>02</a:t>
            </a:r>
            <a:endParaRPr sz="2572" b="1">
              <a:solidFill>
                <a:srgbClr val="D75D3B"/>
              </a:solidFill>
            </a:endParaRPr>
          </a:p>
        </p:txBody>
      </p:sp>
      <p:sp>
        <p:nvSpPr>
          <p:cNvPr id="206" name="Google Shape;206;p22"/>
          <p:cNvSpPr txBox="1"/>
          <p:nvPr/>
        </p:nvSpPr>
        <p:spPr>
          <a:xfrm>
            <a:off x="11527014" y="2208059"/>
            <a:ext cx="3344100" cy="5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600" tIns="117600" rIns="117600" bIns="1176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58" b="1">
                <a:solidFill>
                  <a:srgbClr val="F5EDDF"/>
                </a:solidFill>
              </a:rPr>
              <a:t>Girdi kontrolü</a:t>
            </a:r>
            <a:endParaRPr sz="2958" b="1">
              <a:solidFill>
                <a:srgbClr val="F5EDDF"/>
              </a:solidFill>
            </a:endParaRPr>
          </a:p>
        </p:txBody>
      </p:sp>
      <p:sp>
        <p:nvSpPr>
          <p:cNvPr id="207" name="Google Shape;207;p22"/>
          <p:cNvSpPr txBox="1"/>
          <p:nvPr/>
        </p:nvSpPr>
        <p:spPr>
          <a:xfrm>
            <a:off x="10755286" y="2999077"/>
            <a:ext cx="4244700" cy="5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600" tIns="117600" rIns="117600" bIns="1176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1">
                <a:solidFill>
                  <a:srgbClr val="AD9E8C"/>
                </a:solidFill>
              </a:rPr>
              <a:t>Zod doğrulama, gövde sınırı, standart hata biçimi</a:t>
            </a:r>
            <a:endParaRPr sz="1801">
              <a:solidFill>
                <a:srgbClr val="AD9E8C"/>
              </a:solidFill>
            </a:endParaRPr>
          </a:p>
        </p:txBody>
      </p:sp>
      <p:sp>
        <p:nvSpPr>
          <p:cNvPr id="208" name="Google Shape;208;p22"/>
          <p:cNvSpPr/>
          <p:nvPr/>
        </p:nvSpPr>
        <p:spPr>
          <a:xfrm>
            <a:off x="800000" y="5674390"/>
            <a:ext cx="4888200" cy="1994100"/>
          </a:xfrm>
          <a:prstGeom prst="roundRect">
            <a:avLst>
              <a:gd name="adj" fmla="val 16667"/>
            </a:avLst>
          </a:prstGeom>
          <a:solidFill>
            <a:srgbClr val="1D1916"/>
          </a:solidFill>
          <a:ln w="36750" cap="flat" cmpd="sng">
            <a:solidFill>
              <a:srgbClr val="F5ED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7600" tIns="117600" rIns="117600" bIns="117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2"/>
          <p:cNvSpPr txBox="1"/>
          <p:nvPr/>
        </p:nvSpPr>
        <p:spPr>
          <a:xfrm>
            <a:off x="1121553" y="5989511"/>
            <a:ext cx="615900" cy="4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600" tIns="117600" rIns="117600" bIns="1176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72" b="1">
                <a:solidFill>
                  <a:srgbClr val="D75D3B"/>
                </a:solidFill>
              </a:rPr>
              <a:t>03</a:t>
            </a:r>
            <a:endParaRPr sz="2572" b="1">
              <a:solidFill>
                <a:srgbClr val="D75D3B"/>
              </a:solidFill>
            </a:endParaRPr>
          </a:p>
        </p:txBody>
      </p:sp>
      <p:sp>
        <p:nvSpPr>
          <p:cNvPr id="210" name="Google Shape;210;p22"/>
          <p:cNvSpPr txBox="1"/>
          <p:nvPr/>
        </p:nvSpPr>
        <p:spPr>
          <a:xfrm>
            <a:off x="1893281" y="5976649"/>
            <a:ext cx="3344100" cy="5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600" tIns="117600" rIns="117600" bIns="1176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58" b="1">
                <a:solidFill>
                  <a:srgbClr val="F5EDDF"/>
                </a:solidFill>
              </a:rPr>
              <a:t>AI güvenliği</a:t>
            </a:r>
            <a:endParaRPr sz="2958" b="1">
              <a:solidFill>
                <a:srgbClr val="F5EDDF"/>
              </a:solidFill>
            </a:endParaRPr>
          </a:p>
        </p:txBody>
      </p:sp>
      <p:sp>
        <p:nvSpPr>
          <p:cNvPr id="211" name="Google Shape;211;p22"/>
          <p:cNvSpPr txBox="1"/>
          <p:nvPr/>
        </p:nvSpPr>
        <p:spPr>
          <a:xfrm>
            <a:off x="1121553" y="6767667"/>
            <a:ext cx="4244700" cy="5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600" tIns="117600" rIns="117600" bIns="1176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1">
                <a:solidFill>
                  <a:srgbClr val="AD9E8C"/>
                </a:solidFill>
              </a:rPr>
              <a:t>Notlar veri olarak ayrılır, şema kontrolü, aday mekân doğrulaması</a:t>
            </a:r>
            <a:endParaRPr sz="1801">
              <a:solidFill>
                <a:srgbClr val="AD9E8C"/>
              </a:solidFill>
            </a:endParaRPr>
          </a:p>
        </p:txBody>
      </p:sp>
      <p:sp>
        <p:nvSpPr>
          <p:cNvPr id="212" name="Google Shape;212;p22"/>
          <p:cNvSpPr/>
          <p:nvPr/>
        </p:nvSpPr>
        <p:spPr>
          <a:xfrm>
            <a:off x="10433733" y="5674390"/>
            <a:ext cx="4888200" cy="1994100"/>
          </a:xfrm>
          <a:prstGeom prst="roundRect">
            <a:avLst>
              <a:gd name="adj" fmla="val 16667"/>
            </a:avLst>
          </a:prstGeom>
          <a:solidFill>
            <a:srgbClr val="1D1916"/>
          </a:solidFill>
          <a:ln w="36750" cap="flat" cmpd="sng">
            <a:solidFill>
              <a:srgbClr val="F5ED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7600" tIns="117600" rIns="117600" bIns="117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2"/>
          <p:cNvSpPr txBox="1"/>
          <p:nvPr/>
        </p:nvSpPr>
        <p:spPr>
          <a:xfrm>
            <a:off x="10755286" y="5989511"/>
            <a:ext cx="615900" cy="4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600" tIns="117600" rIns="117600" bIns="1176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72" b="1">
                <a:solidFill>
                  <a:srgbClr val="D75D3B"/>
                </a:solidFill>
              </a:rPr>
              <a:t>04</a:t>
            </a:r>
            <a:endParaRPr sz="2572" b="1">
              <a:solidFill>
                <a:srgbClr val="D75D3B"/>
              </a:solidFill>
            </a:endParaRPr>
          </a:p>
        </p:txBody>
      </p:sp>
      <p:sp>
        <p:nvSpPr>
          <p:cNvPr id="214" name="Google Shape;214;p22"/>
          <p:cNvSpPr txBox="1"/>
          <p:nvPr/>
        </p:nvSpPr>
        <p:spPr>
          <a:xfrm>
            <a:off x="11527014" y="5976649"/>
            <a:ext cx="3344100" cy="5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600" tIns="117600" rIns="117600" bIns="1176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58" b="1">
                <a:solidFill>
                  <a:srgbClr val="F5EDDF"/>
                </a:solidFill>
              </a:rPr>
              <a:t>Kötüye kullanım</a:t>
            </a:r>
            <a:endParaRPr sz="2958" b="1">
              <a:solidFill>
                <a:srgbClr val="F5EDDF"/>
              </a:solidFill>
            </a:endParaRPr>
          </a:p>
        </p:txBody>
      </p:sp>
      <p:sp>
        <p:nvSpPr>
          <p:cNvPr id="215" name="Google Shape;215;p22"/>
          <p:cNvSpPr txBox="1"/>
          <p:nvPr/>
        </p:nvSpPr>
        <p:spPr>
          <a:xfrm>
            <a:off x="10755286" y="6767667"/>
            <a:ext cx="4244700" cy="5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600" tIns="117600" rIns="117600" bIns="1176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1">
                <a:solidFill>
                  <a:srgbClr val="AD9E8C"/>
                </a:solidFill>
              </a:rPr>
              <a:t>Giriş ve AI limitleri, timeout, anahtarlar sunucuda</a:t>
            </a:r>
            <a:endParaRPr sz="1801">
              <a:solidFill>
                <a:srgbClr val="AD9E8C"/>
              </a:solidFill>
            </a:endParaRPr>
          </a:p>
        </p:txBody>
      </p:sp>
      <p:sp>
        <p:nvSpPr>
          <p:cNvPr id="216" name="Google Shape;216;p22"/>
          <p:cNvSpPr/>
          <p:nvPr/>
        </p:nvSpPr>
        <p:spPr>
          <a:xfrm>
            <a:off x="6785382" y="2519376"/>
            <a:ext cx="2422500" cy="2422500"/>
          </a:xfrm>
          <a:prstGeom prst="ellipse">
            <a:avLst/>
          </a:prstGeom>
          <a:noFill/>
          <a:ln w="123075" cap="flat" cmpd="sng">
            <a:solidFill>
              <a:srgbClr val="1D19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7650" tIns="147650" rIns="147650" bIns="1476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6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2"/>
          <p:cNvSpPr/>
          <p:nvPr/>
        </p:nvSpPr>
        <p:spPr>
          <a:xfrm>
            <a:off x="6462424" y="3730464"/>
            <a:ext cx="3067800" cy="2583600"/>
          </a:xfrm>
          <a:prstGeom prst="roundRect">
            <a:avLst>
              <a:gd name="adj" fmla="val 16667"/>
            </a:avLst>
          </a:prstGeom>
          <a:solidFill>
            <a:srgbClr val="1D1916"/>
          </a:solidFill>
          <a:ln w="61525" cap="flat" cmpd="sng">
            <a:solidFill>
              <a:srgbClr val="F5ED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7650" tIns="147650" rIns="147650" bIns="1476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6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2"/>
          <p:cNvSpPr/>
          <p:nvPr/>
        </p:nvSpPr>
        <p:spPr>
          <a:xfrm>
            <a:off x="7754258" y="4709023"/>
            <a:ext cx="484800" cy="484800"/>
          </a:xfrm>
          <a:prstGeom prst="ellipse">
            <a:avLst/>
          </a:prstGeom>
          <a:solidFill>
            <a:srgbClr val="D75D3B"/>
          </a:solidFill>
          <a:ln>
            <a:noFill/>
          </a:ln>
        </p:spPr>
        <p:txBody>
          <a:bodyPr spcFirstLastPara="1" wrap="square" lIns="147650" tIns="147650" rIns="147650" bIns="1476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6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2"/>
          <p:cNvSpPr/>
          <p:nvPr/>
        </p:nvSpPr>
        <p:spPr>
          <a:xfrm>
            <a:off x="7935115" y="5040054"/>
            <a:ext cx="122700" cy="532800"/>
          </a:xfrm>
          <a:prstGeom prst="rect">
            <a:avLst/>
          </a:prstGeom>
          <a:solidFill>
            <a:srgbClr val="D75D3B"/>
          </a:solidFill>
          <a:ln>
            <a:noFill/>
          </a:ln>
        </p:spPr>
        <p:txBody>
          <a:bodyPr spcFirstLastPara="1" wrap="square" lIns="147650" tIns="147650" rIns="147650" bIns="1476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6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2"/>
          <p:cNvSpPr txBox="1"/>
          <p:nvPr/>
        </p:nvSpPr>
        <p:spPr>
          <a:xfrm>
            <a:off x="13456000" y="157350"/>
            <a:ext cx="27999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B6472B"/>
                </a:solidFill>
              </a:rPr>
              <a:t>10 / GÜVENLİK</a:t>
            </a:r>
            <a:endParaRPr sz="1200" b="1">
              <a:solidFill>
                <a:srgbClr val="B6472B"/>
              </a:solidFill>
            </a:endParaRPr>
          </a:p>
        </p:txBody>
      </p:sp>
      <p:sp>
        <p:nvSpPr>
          <p:cNvPr id="221" name="Google Shape;221;p22"/>
          <p:cNvSpPr txBox="1"/>
          <p:nvPr/>
        </p:nvSpPr>
        <p:spPr>
          <a:xfrm>
            <a:off x="4128000" y="455350"/>
            <a:ext cx="80001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800" b="1">
                <a:solidFill>
                  <a:schemeClr val="dk1"/>
                </a:solidFill>
              </a:rPr>
              <a:t>GÜVENLİK</a:t>
            </a:r>
            <a:endParaRPr sz="58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6255999" cy="91488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18300" y="1880225"/>
            <a:ext cx="3639790" cy="636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92330" y="1954255"/>
            <a:ext cx="3491733" cy="62184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37375" y="2528888"/>
            <a:ext cx="4591050" cy="403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804349" y="2139849"/>
            <a:ext cx="6651876" cy="58473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3"/>
          <p:cNvSpPr txBox="1"/>
          <p:nvPr/>
        </p:nvSpPr>
        <p:spPr>
          <a:xfrm>
            <a:off x="13456000" y="157350"/>
            <a:ext cx="27999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B6472B"/>
                </a:solidFill>
              </a:rPr>
              <a:t>11 / MOBİL</a:t>
            </a:r>
            <a:endParaRPr sz="1200" b="1">
              <a:solidFill>
                <a:srgbClr val="B6472B"/>
              </a:solidFill>
            </a:endParaRPr>
          </a:p>
        </p:txBody>
      </p:sp>
      <p:sp>
        <p:nvSpPr>
          <p:cNvPr id="232" name="Google Shape;232;p23"/>
          <p:cNvSpPr txBox="1"/>
          <p:nvPr/>
        </p:nvSpPr>
        <p:spPr>
          <a:xfrm>
            <a:off x="4128000" y="455350"/>
            <a:ext cx="80001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800" b="1">
                <a:solidFill>
                  <a:srgbClr val="1B1814"/>
                </a:solidFill>
              </a:rPr>
              <a:t>MOBİL ENTEGRE</a:t>
            </a:r>
            <a:endParaRPr sz="5800" b="1">
              <a:solidFill>
                <a:srgbClr val="1B1814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425"/>
            <a:ext cx="16255999" cy="9148861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4"/>
          <p:cNvSpPr txBox="1"/>
          <p:nvPr/>
        </p:nvSpPr>
        <p:spPr>
          <a:xfrm>
            <a:off x="3127000" y="2727050"/>
            <a:ext cx="3000000" cy="7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0" b="1">
                <a:solidFill>
                  <a:srgbClr val="B6472B"/>
                </a:solidFill>
              </a:rPr>
              <a:t>32</a:t>
            </a:r>
            <a:endParaRPr sz="15000" b="1">
              <a:solidFill>
                <a:srgbClr val="B6472B"/>
              </a:solidFill>
            </a:endParaRPr>
          </a:p>
        </p:txBody>
      </p:sp>
      <p:sp>
        <p:nvSpPr>
          <p:cNvPr id="239" name="Google Shape;239;p24"/>
          <p:cNvSpPr txBox="1"/>
          <p:nvPr/>
        </p:nvSpPr>
        <p:spPr>
          <a:xfrm>
            <a:off x="3127000" y="481500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1B1814"/>
                </a:solidFill>
              </a:rPr>
              <a:t>API TESTİ</a:t>
            </a:r>
            <a:endParaRPr sz="3000">
              <a:solidFill>
                <a:srgbClr val="1B1814"/>
              </a:solidFill>
            </a:endParaRPr>
          </a:p>
        </p:txBody>
      </p:sp>
      <p:sp>
        <p:nvSpPr>
          <p:cNvPr id="240" name="Google Shape;240;p24"/>
          <p:cNvSpPr txBox="1"/>
          <p:nvPr/>
        </p:nvSpPr>
        <p:spPr>
          <a:xfrm>
            <a:off x="6633000" y="2727050"/>
            <a:ext cx="3000000" cy="7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0" b="1">
                <a:solidFill>
                  <a:srgbClr val="B6472B"/>
                </a:solidFill>
              </a:rPr>
              <a:t>4</a:t>
            </a:r>
            <a:endParaRPr sz="15000" b="1">
              <a:solidFill>
                <a:srgbClr val="B6472B"/>
              </a:solidFill>
            </a:endParaRPr>
          </a:p>
        </p:txBody>
      </p:sp>
      <p:sp>
        <p:nvSpPr>
          <p:cNvPr id="241" name="Google Shape;241;p24"/>
          <p:cNvSpPr txBox="1"/>
          <p:nvPr/>
        </p:nvSpPr>
        <p:spPr>
          <a:xfrm>
            <a:off x="6633000" y="4815000"/>
            <a:ext cx="3000000" cy="7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1B1814"/>
                </a:solidFill>
              </a:rPr>
              <a:t>WEB TESTİ</a:t>
            </a:r>
            <a:endParaRPr sz="3000">
              <a:solidFill>
                <a:srgbClr val="1B1814"/>
              </a:solidFill>
            </a:endParaRPr>
          </a:p>
        </p:txBody>
      </p:sp>
      <p:sp>
        <p:nvSpPr>
          <p:cNvPr id="242" name="Google Shape;242;p24"/>
          <p:cNvSpPr txBox="1"/>
          <p:nvPr/>
        </p:nvSpPr>
        <p:spPr>
          <a:xfrm>
            <a:off x="10129000" y="2727050"/>
            <a:ext cx="3000000" cy="7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0" b="1">
                <a:solidFill>
                  <a:srgbClr val="B6472B"/>
                </a:solidFill>
              </a:rPr>
              <a:t>0</a:t>
            </a:r>
            <a:endParaRPr sz="15000" b="1">
              <a:solidFill>
                <a:srgbClr val="B6472B"/>
              </a:solidFill>
            </a:endParaRPr>
          </a:p>
        </p:txBody>
      </p:sp>
      <p:sp>
        <p:nvSpPr>
          <p:cNvPr id="243" name="Google Shape;243;p24"/>
          <p:cNvSpPr txBox="1"/>
          <p:nvPr/>
        </p:nvSpPr>
        <p:spPr>
          <a:xfrm>
            <a:off x="9633000" y="4776000"/>
            <a:ext cx="5007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1B1814"/>
                </a:solidFill>
              </a:rPr>
              <a:t>AUDIT BULGUSU</a:t>
            </a:r>
            <a:endParaRPr sz="3000">
              <a:solidFill>
                <a:srgbClr val="1B1814"/>
              </a:solidFill>
            </a:endParaRPr>
          </a:p>
        </p:txBody>
      </p:sp>
      <p:sp>
        <p:nvSpPr>
          <p:cNvPr id="244" name="Google Shape;244;p24"/>
          <p:cNvSpPr txBox="1"/>
          <p:nvPr/>
        </p:nvSpPr>
        <p:spPr>
          <a:xfrm>
            <a:off x="478325" y="5662050"/>
            <a:ext cx="9072000" cy="3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61594D"/>
              </a:solidFill>
            </a:endParaRPr>
          </a:p>
        </p:txBody>
      </p:sp>
      <p:sp>
        <p:nvSpPr>
          <p:cNvPr id="245" name="Google Shape;245;p24"/>
          <p:cNvSpPr txBox="1"/>
          <p:nvPr/>
        </p:nvSpPr>
        <p:spPr>
          <a:xfrm>
            <a:off x="4128000" y="455350"/>
            <a:ext cx="80001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800" b="1">
                <a:solidFill>
                  <a:srgbClr val="1B1814"/>
                </a:solidFill>
              </a:rPr>
              <a:t>TESTLER VE CI</a:t>
            </a:r>
            <a:endParaRPr sz="5800" b="1">
              <a:solidFill>
                <a:srgbClr val="1B1814"/>
              </a:solidFill>
            </a:endParaRPr>
          </a:p>
        </p:txBody>
      </p:sp>
      <p:sp>
        <p:nvSpPr>
          <p:cNvPr id="246" name="Google Shape;246;p24"/>
          <p:cNvSpPr txBox="1"/>
          <p:nvPr/>
        </p:nvSpPr>
        <p:spPr>
          <a:xfrm>
            <a:off x="13456000" y="157350"/>
            <a:ext cx="27999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B6472B"/>
                </a:solidFill>
              </a:rPr>
              <a:t>12 / TEST &amp; CI</a:t>
            </a:r>
            <a:endParaRPr sz="1200" b="1">
              <a:solidFill>
                <a:srgbClr val="B6472B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4" y="0"/>
            <a:ext cx="16247363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5"/>
          <p:cNvSpPr txBox="1"/>
          <p:nvPr/>
        </p:nvSpPr>
        <p:spPr>
          <a:xfrm>
            <a:off x="1158925" y="1786675"/>
            <a:ext cx="5580600" cy="3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rgbClr val="B6472B"/>
                </a:solidFill>
              </a:rPr>
              <a:t>FUTURE WORK</a:t>
            </a:r>
            <a:endParaRPr sz="2500" b="1">
              <a:solidFill>
                <a:srgbClr val="B6472B"/>
              </a:solidFill>
            </a:endParaRPr>
          </a:p>
        </p:txBody>
      </p:sp>
      <p:sp>
        <p:nvSpPr>
          <p:cNvPr id="253" name="Google Shape;253;p25"/>
          <p:cNvSpPr txBox="1"/>
          <p:nvPr/>
        </p:nvSpPr>
        <p:spPr>
          <a:xfrm>
            <a:off x="847675" y="164050"/>
            <a:ext cx="7564500" cy="4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800" b="1">
                <a:solidFill>
                  <a:srgbClr val="B6472B"/>
                </a:solidFill>
              </a:rPr>
              <a:t>SORULARINIZ ?</a:t>
            </a:r>
            <a:endParaRPr sz="5800" b="1">
              <a:solidFill>
                <a:srgbClr val="B6472B"/>
              </a:solidFill>
            </a:endParaRPr>
          </a:p>
        </p:txBody>
      </p:sp>
      <p:sp>
        <p:nvSpPr>
          <p:cNvPr id="254" name="Google Shape;254;p25"/>
          <p:cNvSpPr/>
          <p:nvPr/>
        </p:nvSpPr>
        <p:spPr>
          <a:xfrm>
            <a:off x="1198935" y="2749383"/>
            <a:ext cx="122700" cy="122700"/>
          </a:xfrm>
          <a:prstGeom prst="ellipse">
            <a:avLst/>
          </a:prstGeom>
          <a:solidFill>
            <a:srgbClr val="B6472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5"/>
          <p:cNvSpPr txBox="1"/>
          <p:nvPr/>
        </p:nvSpPr>
        <p:spPr>
          <a:xfrm>
            <a:off x="1321625" y="2506075"/>
            <a:ext cx="9999900" cy="6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33">
                <a:solidFill>
                  <a:srgbClr val="F0E6D5"/>
                </a:solidFill>
              </a:rPr>
              <a:t>Google Maps ve Places entegrasyonu</a:t>
            </a:r>
            <a:endParaRPr sz="2533">
              <a:solidFill>
                <a:srgbClr val="F0E6D5"/>
              </a:solidFill>
            </a:endParaRPr>
          </a:p>
        </p:txBody>
      </p:sp>
      <p:sp>
        <p:nvSpPr>
          <p:cNvPr id="256" name="Google Shape;256;p25"/>
          <p:cNvSpPr/>
          <p:nvPr/>
        </p:nvSpPr>
        <p:spPr>
          <a:xfrm>
            <a:off x="1198935" y="3496050"/>
            <a:ext cx="122700" cy="122700"/>
          </a:xfrm>
          <a:prstGeom prst="ellipse">
            <a:avLst/>
          </a:prstGeom>
          <a:solidFill>
            <a:srgbClr val="B6472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5"/>
          <p:cNvSpPr txBox="1"/>
          <p:nvPr/>
        </p:nvSpPr>
        <p:spPr>
          <a:xfrm>
            <a:off x="1321625" y="3275976"/>
            <a:ext cx="9999900" cy="5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33">
                <a:solidFill>
                  <a:srgbClr val="F0E6D5"/>
                </a:solidFill>
              </a:rPr>
              <a:t>AI ile gün ve durak bazlı plan yenileme</a:t>
            </a:r>
            <a:endParaRPr sz="2533">
              <a:solidFill>
                <a:srgbClr val="F0E6D5"/>
              </a:solidFill>
            </a:endParaRPr>
          </a:p>
        </p:txBody>
      </p:sp>
      <p:sp>
        <p:nvSpPr>
          <p:cNvPr id="258" name="Google Shape;258;p25"/>
          <p:cNvSpPr/>
          <p:nvPr/>
        </p:nvSpPr>
        <p:spPr>
          <a:xfrm>
            <a:off x="1198935" y="4242716"/>
            <a:ext cx="122700" cy="122700"/>
          </a:xfrm>
          <a:prstGeom prst="ellipse">
            <a:avLst/>
          </a:prstGeom>
          <a:solidFill>
            <a:srgbClr val="B6472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5"/>
          <p:cNvSpPr txBox="1"/>
          <p:nvPr/>
        </p:nvSpPr>
        <p:spPr>
          <a:xfrm>
            <a:off x="1321625" y="4007113"/>
            <a:ext cx="9999900" cy="5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33">
                <a:solidFill>
                  <a:srgbClr val="F0E6D5"/>
                </a:solidFill>
              </a:rPr>
              <a:t>Kişisel tercihlere göre şehir önerileri</a:t>
            </a:r>
            <a:endParaRPr sz="2533">
              <a:solidFill>
                <a:srgbClr val="F0E6D5"/>
              </a:solidFill>
            </a:endParaRPr>
          </a:p>
        </p:txBody>
      </p:sp>
      <p:sp>
        <p:nvSpPr>
          <p:cNvPr id="260" name="Google Shape;260;p25"/>
          <p:cNvSpPr/>
          <p:nvPr/>
        </p:nvSpPr>
        <p:spPr>
          <a:xfrm>
            <a:off x="1198935" y="4989383"/>
            <a:ext cx="122700" cy="122700"/>
          </a:xfrm>
          <a:prstGeom prst="ellipse">
            <a:avLst/>
          </a:prstGeom>
          <a:solidFill>
            <a:srgbClr val="B6472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5"/>
          <p:cNvSpPr txBox="1"/>
          <p:nvPr/>
        </p:nvSpPr>
        <p:spPr>
          <a:xfrm>
            <a:off x="1321625" y="4738240"/>
            <a:ext cx="9999900" cy="5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33">
                <a:solidFill>
                  <a:srgbClr val="F0E6D5"/>
                </a:solidFill>
              </a:rPr>
              <a:t>Paylaşılabilir rota, takvim ve PDF dışa aktarma</a:t>
            </a:r>
            <a:endParaRPr sz="2533">
              <a:solidFill>
                <a:srgbClr val="F0E6D5"/>
              </a:solidFill>
            </a:endParaRPr>
          </a:p>
        </p:txBody>
      </p:sp>
      <p:sp>
        <p:nvSpPr>
          <p:cNvPr id="262" name="Google Shape;262;p25"/>
          <p:cNvSpPr txBox="1"/>
          <p:nvPr/>
        </p:nvSpPr>
        <p:spPr>
          <a:xfrm>
            <a:off x="1158935" y="6066666"/>
            <a:ext cx="4666800" cy="3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33" b="1">
                <a:solidFill>
                  <a:srgbClr val="B6472B"/>
                </a:solidFill>
              </a:rPr>
              <a:t>WAYORA EKİBİ</a:t>
            </a:r>
            <a:endParaRPr sz="1733" b="1">
              <a:solidFill>
                <a:srgbClr val="B6472B"/>
              </a:solidFill>
            </a:endParaRPr>
          </a:p>
        </p:txBody>
      </p:sp>
      <p:sp>
        <p:nvSpPr>
          <p:cNvPr id="263" name="Google Shape;263;p25"/>
          <p:cNvSpPr/>
          <p:nvPr/>
        </p:nvSpPr>
        <p:spPr>
          <a:xfrm>
            <a:off x="1198935" y="6877399"/>
            <a:ext cx="122700" cy="122700"/>
          </a:xfrm>
          <a:prstGeom prst="ellipse">
            <a:avLst/>
          </a:prstGeom>
          <a:solidFill>
            <a:srgbClr val="B6472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5"/>
          <p:cNvSpPr txBox="1"/>
          <p:nvPr/>
        </p:nvSpPr>
        <p:spPr>
          <a:xfrm>
            <a:off x="1465602" y="6679999"/>
            <a:ext cx="57333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67">
                <a:solidFill>
                  <a:srgbClr val="F0E6D5"/>
                </a:solidFill>
              </a:rPr>
              <a:t>Bayram Selim Yılmaz</a:t>
            </a:r>
            <a:endParaRPr sz="1867">
              <a:solidFill>
                <a:srgbClr val="F0E6D5"/>
              </a:solidFill>
            </a:endParaRPr>
          </a:p>
        </p:txBody>
      </p:sp>
      <p:sp>
        <p:nvSpPr>
          <p:cNvPr id="265" name="Google Shape;265;p25"/>
          <p:cNvSpPr/>
          <p:nvPr/>
        </p:nvSpPr>
        <p:spPr>
          <a:xfrm>
            <a:off x="1198935" y="7277399"/>
            <a:ext cx="122700" cy="122700"/>
          </a:xfrm>
          <a:prstGeom prst="ellipse">
            <a:avLst/>
          </a:prstGeom>
          <a:solidFill>
            <a:srgbClr val="B6472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5"/>
          <p:cNvSpPr txBox="1"/>
          <p:nvPr/>
        </p:nvSpPr>
        <p:spPr>
          <a:xfrm>
            <a:off x="1465602" y="7079999"/>
            <a:ext cx="57333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67">
                <a:solidFill>
                  <a:srgbClr val="F0E6D5"/>
                </a:solidFill>
              </a:rPr>
              <a:t>Mehmet Emin Akkaya</a:t>
            </a:r>
            <a:endParaRPr sz="1867">
              <a:solidFill>
                <a:srgbClr val="F0E6D5"/>
              </a:solidFill>
            </a:endParaRPr>
          </a:p>
        </p:txBody>
      </p:sp>
      <p:sp>
        <p:nvSpPr>
          <p:cNvPr id="267" name="Google Shape;267;p25"/>
          <p:cNvSpPr/>
          <p:nvPr/>
        </p:nvSpPr>
        <p:spPr>
          <a:xfrm>
            <a:off x="1198935" y="7677399"/>
            <a:ext cx="122700" cy="122700"/>
          </a:xfrm>
          <a:prstGeom prst="ellipse">
            <a:avLst/>
          </a:prstGeom>
          <a:solidFill>
            <a:srgbClr val="B6472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5"/>
          <p:cNvSpPr txBox="1"/>
          <p:nvPr/>
        </p:nvSpPr>
        <p:spPr>
          <a:xfrm>
            <a:off x="1465602" y="7479999"/>
            <a:ext cx="57333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67">
                <a:solidFill>
                  <a:srgbClr val="F0E6D5"/>
                </a:solidFill>
              </a:rPr>
              <a:t>Ezgi Turan</a:t>
            </a:r>
            <a:endParaRPr sz="1867">
              <a:solidFill>
                <a:srgbClr val="F0E6D5"/>
              </a:solidFill>
            </a:endParaRPr>
          </a:p>
        </p:txBody>
      </p:sp>
      <p:sp>
        <p:nvSpPr>
          <p:cNvPr id="269" name="Google Shape;269;p25"/>
          <p:cNvSpPr/>
          <p:nvPr/>
        </p:nvSpPr>
        <p:spPr>
          <a:xfrm>
            <a:off x="1198935" y="8077399"/>
            <a:ext cx="122700" cy="122700"/>
          </a:xfrm>
          <a:prstGeom prst="ellipse">
            <a:avLst/>
          </a:prstGeom>
          <a:solidFill>
            <a:srgbClr val="B6472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5"/>
          <p:cNvSpPr txBox="1"/>
          <p:nvPr/>
        </p:nvSpPr>
        <p:spPr>
          <a:xfrm>
            <a:off x="1465602" y="7879999"/>
            <a:ext cx="57333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67">
                <a:solidFill>
                  <a:srgbClr val="F0E6D5"/>
                </a:solidFill>
              </a:rPr>
              <a:t>Aykut Kayra Akkuş</a:t>
            </a:r>
            <a:endParaRPr sz="1867">
              <a:solidFill>
                <a:srgbClr val="F0E6D5"/>
              </a:solidFill>
            </a:endParaRPr>
          </a:p>
        </p:txBody>
      </p:sp>
      <p:sp>
        <p:nvSpPr>
          <p:cNvPr id="271" name="Google Shape;271;p25"/>
          <p:cNvSpPr/>
          <p:nvPr/>
        </p:nvSpPr>
        <p:spPr>
          <a:xfrm>
            <a:off x="1198935" y="8477399"/>
            <a:ext cx="122700" cy="122700"/>
          </a:xfrm>
          <a:prstGeom prst="ellipse">
            <a:avLst/>
          </a:prstGeom>
          <a:solidFill>
            <a:srgbClr val="B6472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5"/>
          <p:cNvSpPr txBox="1"/>
          <p:nvPr/>
        </p:nvSpPr>
        <p:spPr>
          <a:xfrm>
            <a:off x="1465602" y="8279999"/>
            <a:ext cx="57333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67">
                <a:solidFill>
                  <a:srgbClr val="F0E6D5"/>
                </a:solidFill>
              </a:rPr>
              <a:t>Berfin Aksoy</a:t>
            </a:r>
            <a:endParaRPr sz="1867">
              <a:solidFill>
                <a:srgbClr val="F0E6D5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279</Words>
  <Application>Microsoft Office PowerPoint</Application>
  <PresentationFormat>Özel</PresentationFormat>
  <Paragraphs>87</Paragraphs>
  <Slides>13</Slides>
  <Notes>13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13</vt:i4>
      </vt:variant>
    </vt:vector>
  </HeadingPairs>
  <TitlesOfParts>
    <vt:vector size="17" baseType="lpstr">
      <vt:lpstr>Arial</vt:lpstr>
      <vt:lpstr>Calibri</vt:lpstr>
      <vt:lpstr>Nunito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Mehmet Emin AKKAYA</cp:lastModifiedBy>
  <cp:revision>1</cp:revision>
  <dcterms:modified xsi:type="dcterms:W3CDTF">2026-10-29T20:59:09Z</dcterms:modified>
</cp:coreProperties>
</file>