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Wayora, kullanıcının tercihlerine göre gün gün seyahat planı üreten bir web uygulaması. Bu sunum ürünü, mimariyi ve AI-native mühendislik yaklaşımını anlatır.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Problem, kullanıcının çok fazla kaynak ve karar arasında kaybolması. Wayora karar sayısını azaltıp planı düzenlenebilir bir nesneye çeviriyor.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Çözüm üç adıma indirildi. Plan bir çıktı değil, kullanıcıya ait düzenlenebilir bir defter.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Landing ekranı ürünün kendisini gösteriyor: film çerçeveli fotoğraf, rota fişi ve gün notları. Kullanıcıya soyut bir AI vaadi yerine somut bir plan gösteriliyor.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 ekran, referanstaki üç telefonun dilini gerçek ürüne taşıyor: büyük başlık, tam ekran film çerçeveli fotoğraf, rota fişi ve sabit alt menü.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Kullanıcı akışı üç ekrana indirildi. Onboarding, gezi formu ve plan detayı arasında geri dönüş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Mimari iki workspace: web ve api. AI anahtarları yalnızca API tarafında. Veritabanı Prisma ile erişiliyor; Place tablosu kota ve maliyet için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çıktısı doğrudan yazılmıyor. Önce şema, sonra aday filtresi, sonra transaction. Sağlayıcı hatasında offline üretici devreye giriyor.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Güvenlik; kimlik, girdi, prompt ve kötüye kullanım olarak dört katmanda ele alındı. Prompt injection testi servis testleri içinde.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Dersin haftalık pratikleri repoya işlendi: SDD artefaktları, AGENTS.md, skill’ler, MCP sunucusu, AI review ve CI. Amaç agent’ın bağlamı hızlı bulması.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Sprint 0-3 tamamlandı; Sprint 4’te sürükle-bırak, Sprint 5’te deploy ve demo açık. Riskler ve azaltma planları proje yönetimi belgesinde.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Kalite deterministik guardrail’lere dayanıyor: 51 API, 4 web testi, lint, tip, build, audit, gitleaks, CodeQL ve Semgrep.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kayıt, tercih, Paris 3 gün, plan üret, aktivite düzenle. Offline modda hızlı; LLM modunda fallback anlatılır.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Kapanış: ürün demo edilebilir, testler yeşil, agent artefaktları hazır. Sonraki adımlar harita, sürükle-bırak, kısmi AI ve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931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4389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2976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JOB-191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SEYAHAT PLANLAMA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5400" b="0">
                <a:solidFill>
                  <a:srgbClr val="1B1814"/>
                </a:solidFill>
                <a:latin typeface="Arial Black"/>
              </a:rPr>
              <a:t>BİR ŞEHİR.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84831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5400" b="0">
                <a:solidFill>
                  <a:srgbClr val="1B1814"/>
                </a:solidFill>
                <a:latin typeface="Arial Black"/>
              </a:rPr>
              <a:t>ÜÇ GÜN.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44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B6472B"/>
                </a:solidFill>
                <a:latin typeface="Arial Black"/>
              </a:rPr>
              <a:t>TEK ROTA.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3456432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154"/>
                </a:solidFill>
                <a:latin typeface="Arial"/>
              </a:rPr>
              <a:t>AI destekli, bütçe odaklı ve düzenlenebilir seyahat planlama.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431596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Consolas"/>
              </a:rPr>
              <a:t>JOB-191 · İstinye Üniversitesi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4645152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6154"/>
                </a:solidFill>
                <a:latin typeface="Consolas"/>
              </a:rPr>
              <a:t>Bayram Selim Yılmaz · Mehmet Emin Akkaya · Ezgi Turan · Aykut Kayra Akkuş · Berfin Aksoy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658368"/>
            <a:ext cx="3337560" cy="5577840"/>
          </a:xfrm>
          <a:prstGeom prst="rect">
            <a:avLst/>
          </a:prstGeom>
          <a:solidFill>
            <a:srgbClr val="F4EADA"/>
          </a:solidFill>
          <a:ln w="1651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il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2" y="868680"/>
            <a:ext cx="2878920" cy="5120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88352" y="603504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FBF3E5"/>
                </a:solidFill>
                <a:latin typeface="Consolas"/>
              </a:rPr>
              <a:t>PARİS // 14:02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01 /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Planlamak hâlâ dağınık.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972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Seyahat planlamak üç sekme, bir not defteri ve kayıp bir saat demek.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6596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154"/>
                </a:solidFill>
                <a:latin typeface="Arial"/>
              </a:rPr>
              <a:t>Gezgin; ilgi alanı, bütçe ve tempo arasında denge kurmak zorunda. Mevcut araçlar ya liste verir ya da düzenlenemeyen tek seferlik bir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17520"/>
            <a:ext cx="3429000" cy="201168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1821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B6472B"/>
                </a:solidFill>
                <a:latin typeface="Arial Black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639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DAĞINIK BİLGİ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005072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154"/>
                </a:solidFill>
                <a:latin typeface="Arial"/>
              </a:rPr>
              <a:t>Onlarca sekme, ekran görüntüsü ve not.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4736592"/>
            <a:ext cx="502920" cy="18288"/>
          </a:xfrm>
          <a:prstGeom prst="rect">
            <a:avLst/>
          </a:prstGeom>
          <a:solidFill>
            <a:srgbClr val="B6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017520"/>
            <a:ext cx="3429000" cy="201168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1821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B6472B"/>
                </a:solidFill>
                <a:latin typeface="Arial Black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639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GÖRÜNMEZ BÜTÇE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005072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154"/>
                </a:solidFill>
                <a:latin typeface="Arial"/>
              </a:rPr>
              <a:t>Maliyet planın sonunda ortaya çıkar.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53712" y="4736592"/>
            <a:ext cx="502920" cy="18288"/>
          </a:xfrm>
          <a:prstGeom prst="rect">
            <a:avLst/>
          </a:prstGeom>
          <a:solidFill>
            <a:srgbClr val="B6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3017520"/>
            <a:ext cx="3429000" cy="201168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31821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B6472B"/>
                </a:solidFill>
                <a:latin typeface="Arial Black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3639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DÜZENLENEMEZ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4005072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154"/>
                </a:solidFill>
                <a:latin typeface="Arial"/>
              </a:rPr>
              <a:t>Tek seferlik çıktı, kullanıcıya ait değil.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48472" y="4736592"/>
            <a:ext cx="502920" cy="18288"/>
          </a:xfrm>
          <a:prstGeom prst="rect">
            <a:avLst/>
          </a:prstGeom>
          <a:solidFill>
            <a:srgbClr val="B6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577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1814"/>
                </a:solidFill>
                <a:latin typeface="Arial Black"/>
              </a:rPr>
              <a:t>Wayora bu üç dağınık parçayı tek bir okunabilir rotaya çevirir.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02 / ÇÖZÜM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Bir plan değil, bir rota.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09728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600" b="0">
                <a:solidFill>
                  <a:srgbClr val="1B1814"/>
                </a:solidFill>
                <a:latin typeface="Arial Black"/>
              </a:rPr>
              <a:t>GÜN GÜN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600" b="0">
                <a:solidFill>
                  <a:srgbClr val="B6472B"/>
                </a:solidFill>
                <a:latin typeface="Arial Black"/>
              </a:rPr>
              <a:t>SAAT SAAT GİT.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6888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154"/>
                </a:solidFill>
                <a:latin typeface="Arial"/>
              </a:rPr>
              <a:t>Wayora ilgi alanlarını, bütçeni ve temponu okur; şehri günlere, günleri saatlere böler.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074920" cy="114300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399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6472B"/>
                </a:solidFill>
                <a:latin typeface="Arial Black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13807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Tercihleri gir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79" y="17373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154"/>
                </a:solidFill>
                <a:latin typeface="Arial"/>
              </a:rPr>
              <a:t>İlgi alanı, bütçe, tempo.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743200"/>
            <a:ext cx="5074920" cy="114300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29077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6472B"/>
                </a:solidFill>
                <a:latin typeface="Arial Black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288950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Gezinin çerçevesini çiz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32461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154"/>
                </a:solidFill>
                <a:latin typeface="Arial"/>
              </a:rPr>
              <a:t>Şehir, tarih, bütçe.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251960"/>
            <a:ext cx="5074920" cy="114300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416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6472B"/>
                </a:solidFill>
                <a:latin typeface="Arial Black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439826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Planı kendine göre düzenle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47548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154"/>
                </a:solidFill>
                <a:latin typeface="Arial"/>
              </a:rPr>
              <a:t>Ekle, çıkar, saati değiştir.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9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154"/>
                </a:solidFill>
                <a:latin typeface="Consolas"/>
              </a:rPr>
              <a:t>Sonuç: 3 dakikada plan, 1 ekranda bütçe, istediğin zaman düzenleme.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03 / ÜRÜN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Landing: çalışan bir plan vaadi.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" y="1088136"/>
            <a:ext cx="6089904" cy="5093208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nding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980176" cy="4983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0" y="128016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B6472B"/>
                </a:solidFill>
                <a:latin typeface="Consolas"/>
              </a:rPr>
              <a:t>01 / FİLM ÇERÇEVESİ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5544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1814"/>
                </a:solidFill>
                <a:latin typeface="Arial Black"/>
              </a:rPr>
              <a:t>Fotoğraf bir kart değil, sayfanın kanıtı.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51460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B6472B"/>
                </a:solidFill>
                <a:latin typeface="Consolas"/>
              </a:rPr>
              <a:t>02 / ROTA FİŞİ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88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1814"/>
                </a:solidFill>
                <a:latin typeface="Arial Black"/>
              </a:rPr>
              <a:t>Saat, durak ve fiyat aynı yüzeyde.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749039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B6472B"/>
                </a:solidFill>
                <a:latin typeface="Consolas"/>
              </a:rPr>
              <a:t>03 / GÜNLÜK NOTLAR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0233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1814"/>
                </a:solidFill>
                <a:latin typeface="Arial Black"/>
              </a:rPr>
              <a:t>Üç ikon kutusu değil, üç günlük not.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74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Consolas"/>
              </a:rPr>
              <a:t>Tasarım referansı: analog seyahat defteri.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04 / MOBIL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Mobilde web sitesi değil, uygulama.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" y="1133856"/>
            <a:ext cx="2808716" cy="4910328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bil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2698988" cy="4800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014216" y="1362456"/>
            <a:ext cx="4590288" cy="4040043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rip-detail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417320"/>
            <a:ext cx="4480560" cy="39303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32520" y="1325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4"/>
                </a:solidFill>
                <a:latin typeface="Arial Black"/>
              </a:rPr>
              <a:t>Tek satır header.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62763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Yalnız marka ve tek eylem.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423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4"/>
                </a:solidFill>
                <a:latin typeface="Arial Black"/>
              </a:rPr>
              <a:t>Sabit alt tab bar.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72491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Rotasyon / Keşif / Kurulum.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520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4"/>
                </a:solidFill>
                <a:latin typeface="Arial Black"/>
              </a:rPr>
              <a:t>375 px’te tam sığan ilk ekran.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822191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Başlık, fotoğraf, rota fişi ve nav.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6177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4"/>
                </a:solidFill>
                <a:latin typeface="Arial Black"/>
              </a:rPr>
              <a:t>Aktivite fişleri ve fiyat damgaları.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919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Plan okunur, düzenlenebilir.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05 / KULLANICI YOLCULUĞU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3 dakikada plana.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2514600" cy="242316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0116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B6472B"/>
                </a:solidFill>
                <a:latin typeface="Arial Blac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14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1814"/>
                </a:solidFill>
                <a:latin typeface="Consolas"/>
              </a:rPr>
              <a:t>KAYIT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8036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154"/>
                </a:solidFill>
                <a:latin typeface="Arial"/>
              </a:rPr>
              <a:t>E-posta + şifre</a:t>
            </a:r>
            <a:br/>
            <a:r>
              <a:rPr sz="1200" b="0">
                <a:solidFill>
                  <a:srgbClr val="6B6154"/>
                </a:solidFill>
                <a:latin typeface="Arial"/>
              </a:rPr>
              <a:t>veya yeni hesap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7" y="28529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6472B"/>
                </a:solidFill>
                <a:latin typeface="Arial Black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828800"/>
            <a:ext cx="2514600" cy="242316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0116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B6472B"/>
                </a:solidFill>
                <a:latin typeface="Arial Black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514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1814"/>
                </a:solidFill>
                <a:latin typeface="Consolas"/>
              </a:rPr>
              <a:t>TERCİH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88036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154"/>
                </a:solidFill>
                <a:latin typeface="Arial"/>
              </a:rPr>
              <a:t>İlgi alanı, bütçe,</a:t>
            </a:r>
            <a:br/>
            <a:r>
              <a:rPr sz="1200" b="0">
                <a:solidFill>
                  <a:srgbClr val="6B6154"/>
                </a:solidFill>
                <a:latin typeface="Arial"/>
              </a:rPr>
              <a:t>tempo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28529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6472B"/>
                </a:solidFill>
                <a:latin typeface="Arial Black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828800"/>
            <a:ext cx="2514600" cy="242316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0116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B6472B"/>
                </a:solidFill>
                <a:latin typeface="Arial Black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14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1814"/>
                </a:solidFill>
                <a:latin typeface="Consolas"/>
              </a:rPr>
              <a:t>GEZİ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8036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154"/>
                </a:solidFill>
                <a:latin typeface="Arial"/>
              </a:rPr>
              <a:t>Şehir, tarih,</a:t>
            </a:r>
            <a:br/>
            <a:r>
              <a:rPr sz="1200" b="0">
                <a:solidFill>
                  <a:srgbClr val="6B6154"/>
                </a:solidFill>
                <a:latin typeface="Arial"/>
              </a:rPr>
              <a:t>bütçe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28529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6472B"/>
                </a:solidFill>
                <a:latin typeface="Arial Black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59" y="1828800"/>
            <a:ext cx="2514600" cy="242316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39" y="20116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B6472B"/>
                </a:solidFill>
                <a:latin typeface="Arial Black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39" y="2514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1814"/>
                </a:solidFill>
                <a:latin typeface="Consolas"/>
              </a:rPr>
              <a:t>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288036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154"/>
                </a:solidFill>
                <a:latin typeface="Arial"/>
              </a:rPr>
              <a:t>AI üretir,</a:t>
            </a:r>
            <a:br/>
            <a:r>
              <a:rPr sz="1200" b="0">
                <a:solidFill>
                  <a:srgbClr val="6B6154"/>
                </a:solidFill>
                <a:latin typeface="Arial"/>
              </a:rPr>
              <a:t>kullanıcı düzenler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≤ 3 EKRAN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7548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≤ 3 DAKİKA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7548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B6472B"/>
                </a:solidFill>
                <a:latin typeface="Arial Black"/>
              </a:rPr>
              <a:t>1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154"/>
                </a:solidFill>
                <a:latin typeface="Arial"/>
              </a:rPr>
              <a:t>Kayıttan plana kadar tek akış; gereksiz ekran ve karar yok.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06 / MIMARI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Tek repo, net sınırlar.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2423160" cy="141732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2140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4"/>
                </a:solidFill>
                <a:latin typeface="Arial Black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React 19 · Vite</a:t>
            </a:r>
            <a:br/>
            <a:r>
              <a:rPr sz="1000" b="0">
                <a:solidFill>
                  <a:srgbClr val="6B6154"/>
                </a:solidFill>
                <a:latin typeface="Arial"/>
              </a:rPr>
              <a:t>React Router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1965960"/>
            <a:ext cx="2423160" cy="141732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12140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4"/>
                </a:solidFill>
                <a:latin typeface="Arial Black"/>
              </a:rP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688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Express 5 · TypeScript</a:t>
            </a:r>
            <a:br/>
            <a:r>
              <a:rPr sz="1000" b="0">
                <a:solidFill>
                  <a:srgbClr val="6B6154"/>
                </a:solidFill>
                <a:latin typeface="Arial"/>
              </a:rPr>
              <a:t>zod · JWT · rate limit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965960"/>
            <a:ext cx="2423160" cy="141732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12140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4"/>
                </a:solidFill>
                <a:latin typeface="Arial Black"/>
              </a:rPr>
              <a:t>VERİ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468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PostgreSQL</a:t>
            </a:r>
            <a:br/>
            <a:r>
              <a:rPr sz="1000" b="0">
                <a:solidFill>
                  <a:srgbClr val="6B6154"/>
                </a:solidFill>
                <a:latin typeface="Arial"/>
              </a:rPr>
              <a:t>Prisma 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4069080"/>
            <a:ext cx="2788920" cy="123444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206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814"/>
                </a:solidFill>
                <a:latin typeface="Arial Black"/>
              </a:rPr>
              <a:t>AI SERVİSİ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52628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offline · Gemini · OpenAI</a:t>
            </a:r>
            <a:br/>
            <a:r>
              <a:rPr sz="900" b="0">
                <a:solidFill>
                  <a:srgbClr val="6B6154"/>
                </a:solidFill>
                <a:latin typeface="Arial"/>
              </a:rPr>
              <a:t>routing + fallback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069080"/>
            <a:ext cx="2788920" cy="1234440"/>
          </a:xfrm>
          <a:prstGeom prst="rect">
            <a:avLst/>
          </a:prstGeom>
          <a:solidFill>
            <a:srgbClr val="FBF3E5"/>
          </a:solidFill>
          <a:ln w="1524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814"/>
                </a:solidFill>
                <a:latin typeface="Arial Black"/>
              </a:rPr>
              <a:t>YER KATALOĞU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2628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yerleşik katalog</a:t>
            </a:r>
            <a:br/>
            <a:r>
              <a:rPr sz="900" b="0">
                <a:solidFill>
                  <a:srgbClr val="6B6154"/>
                </a:solidFill>
                <a:latin typeface="Arial"/>
              </a:rPr>
              <a:t>Place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2423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6472B"/>
                </a:solidFill>
                <a:latin typeface="Arial Black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423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6472B"/>
                </a:solidFill>
                <a:latin typeface="Arial Black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6472B"/>
                </a:solidFill>
                <a:latin typeface="Arial Black"/>
              </a:rPr>
              <a:t>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6472B"/>
                </a:solidFill>
                <a:latin typeface="Arial Black"/>
              </a:rPr>
              <a:t>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Consolas"/>
              </a:rPr>
              <a:t>Frontend hiçbir sağlayıcı anahtarı görmez. AI, API içinde tek servis üzerinden çağrılır.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07 /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LLM bir kara kutu değil, doğrulanan bir servis.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011680"/>
            <a:ext cx="1664208" cy="196596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488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5059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GİRDİ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7889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Tarih, bütçe,</a:t>
            </a:r>
            <a:br/>
            <a:r>
              <a:rPr sz="900" b="0">
                <a:solidFill>
                  <a:srgbClr val="6B6154"/>
                </a:solidFill>
                <a:latin typeface="Arial"/>
              </a:rPr>
              <a:t>tercih,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7889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6472B"/>
                </a:solidFill>
                <a:latin typeface="Arial Black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78024" y="2011680"/>
            <a:ext cx="1664208" cy="196596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2" y="21488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752" y="245059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ADAYLAR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7752" y="27889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Katalogdan</a:t>
            </a:r>
            <a:br/>
            <a:r>
              <a:rPr sz="900" b="0">
                <a:solidFill>
                  <a:srgbClr val="6B6154"/>
                </a:solidFill>
                <a:latin typeface="Arial"/>
              </a:rPr>
              <a:t>seçilmiş yerler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9664" y="27889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6472B"/>
                </a:solidFill>
                <a:latin typeface="Arial Black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2011680"/>
            <a:ext cx="1664208" cy="196596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21488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45059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ÜRETİM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7889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Offline veya</a:t>
            </a:r>
            <a:br/>
            <a:r>
              <a:rPr sz="900" b="0">
                <a:solidFill>
                  <a:srgbClr val="6B6154"/>
                </a:solidFill>
                <a:latin typeface="Arial"/>
              </a:rPr>
              <a:t>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27889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6472B"/>
                </a:solidFill>
                <a:latin typeface="Arial Black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2011680"/>
            <a:ext cx="1664208" cy="196596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1488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45059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ZOD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7889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Şema ve</a:t>
            </a:r>
            <a:br/>
            <a:r>
              <a:rPr sz="900" b="0">
                <a:solidFill>
                  <a:srgbClr val="6B6154"/>
                </a:solidFill>
                <a:latin typeface="Arial"/>
              </a:rPr>
              <a:t>gün kontrolü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27889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6472B"/>
                </a:solidFill>
                <a:latin typeface="Arial Black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9016" y="2011680"/>
            <a:ext cx="1664208" cy="196596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4" y="21488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245059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FİLTRE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27889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Aday dışı</a:t>
            </a:r>
            <a:br/>
            <a:r>
              <a:rPr sz="900" b="0">
                <a:solidFill>
                  <a:srgbClr val="6B6154"/>
                </a:solidFill>
                <a:latin typeface="Arial"/>
              </a:rPr>
              <a:t>ID atılır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6" y="27889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6472B"/>
                </a:solidFill>
                <a:latin typeface="Arial Black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2011680"/>
            <a:ext cx="1664208" cy="196596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22408" y="21488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22408" y="245059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KAYIT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22408" y="27889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Transaction</a:t>
            </a:r>
            <a:br/>
            <a:r>
              <a:rPr sz="900" b="0">
                <a:solidFill>
                  <a:srgbClr val="6B6154"/>
                </a:solidFill>
                <a:latin typeface="Arial"/>
              </a:rPr>
              <a:t>+ tips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617720"/>
            <a:ext cx="10881360" cy="77724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75488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A83A2A"/>
                </a:solidFill>
                <a:latin typeface="Consolas"/>
              </a:rPr>
              <a:t>FALLBACK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4736592"/>
            <a:ext cx="9418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1814"/>
                </a:solidFill>
                <a:latin typeface="Arial"/>
              </a:rPr>
              <a:t>Sağlayıcı hatası, timeout veya şema uyuşmazlığında deterministik offline üretici devreye girer; kullanıcı ham hata görmez.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7150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6154"/>
                </a:solidFill>
                <a:latin typeface="Consolas"/>
              </a:rPr>
              <a:t>Model routing: itinerary → güçlü model · quick_tip → hızlı model · günlük limit + timeout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08 / GÜVENLIK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Güvenlik sonradan eklenen bir katman değil.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65960"/>
            <a:ext cx="5349240" cy="160020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305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6472B"/>
                </a:solidFill>
                <a:latin typeface="Arial Blac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488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KİMLİK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9631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154"/>
                </a:solidFill>
                <a:latin typeface="Arial"/>
              </a:rPr>
              <a:t>JWT httpOnly cookie, bcrypt cost 12. Her sorguda userId filtresi.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5349240" cy="160020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3055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6472B"/>
                </a:solidFill>
                <a:latin typeface="Arial Blac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488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GİRDİ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496312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154"/>
                </a:solidFill>
                <a:latin typeface="Arial"/>
              </a:rPr>
              <a:t>Tüm gövde ve parametreler zod ile doğrulanır. Standart hata biçimi.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840479"/>
            <a:ext cx="5349240" cy="160020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05071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6472B"/>
                </a:solidFill>
                <a:latin typeface="Arial Blac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23359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70831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154"/>
                </a:solidFill>
                <a:latin typeface="Arial"/>
              </a:rPr>
              <a:t>Kullanıcı notu &lt;untrusted_user_notes&gt; içinde; çıktı şema + aday filtresi.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79"/>
            <a:ext cx="5349240" cy="160020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05071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6472B"/>
                </a:solidFill>
                <a:latin typeface="Arial Black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023359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KÖTÜYE KULLANIM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370831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154"/>
                </a:solidFill>
                <a:latin typeface="Arial"/>
              </a:rPr>
              <a:t>Auth 30/15 dk; AI günlük limit. Secret yok; gitleaks/CodeQL/Semgrep.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89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Consolas"/>
              </a:rPr>
              <a:t>51 API + 4 web testi · 0 audit vulnerability · CI her PR’da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09 / AI-NATIVE MÜHENDISLIK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Repo, agent’ın da okuyabildiği bir ürün.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3474720" cy="150876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197510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6472B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9339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SDD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3172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constitution · spec</a:t>
            </a:r>
            <a:br/>
            <a:r>
              <a:rPr sz="1000" b="0">
                <a:solidFill>
                  <a:srgbClr val="6B6154"/>
                </a:solidFill>
                <a:latin typeface="Arial"/>
              </a:rPr>
              <a:t>plan · 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3474720" cy="150876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97510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6472B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99339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33172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kök + api + web</a:t>
            </a:r>
            <a:br/>
            <a:r>
              <a:rPr sz="1000" b="0">
                <a:solidFill>
                  <a:srgbClr val="6B6154"/>
                </a:solidFill>
                <a:latin typeface="Arial"/>
              </a:rPr>
              <a:t>scoped talimat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1828800"/>
            <a:ext cx="3474720" cy="150876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197510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6472B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99339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33172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feature · review</a:t>
            </a:r>
            <a:br/>
            <a:r>
              <a:rPr sz="1000" b="0">
                <a:solidFill>
                  <a:srgbClr val="6B6154"/>
                </a:solidFill>
                <a:latin typeface="Arial"/>
              </a:rPr>
              <a:t>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611880"/>
            <a:ext cx="3474720" cy="150876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37581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6472B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77647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1480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Wayora Context</a:t>
            </a:r>
            <a:br/>
            <a:r>
              <a:rPr sz="1000" b="0">
                <a:solidFill>
                  <a:srgbClr val="6B6154"/>
                </a:solidFill>
                <a:latin typeface="Arial"/>
              </a:rPr>
              <a:t>API + docs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611880"/>
            <a:ext cx="3474720" cy="150876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37581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6472B"/>
                </a:solidFill>
                <a:latin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77647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AI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11480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CodeRabbit + rubric</a:t>
            </a:r>
            <a:br/>
            <a:r>
              <a:rPr sz="1000" b="0">
                <a:solidFill>
                  <a:srgbClr val="6B6154"/>
                </a:solidFill>
                <a:latin typeface="Arial"/>
              </a:rPr>
              <a:t>insan onayı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3611880"/>
            <a:ext cx="3474720" cy="1508760"/>
          </a:xfrm>
          <a:prstGeom prst="rect">
            <a:avLst/>
          </a:prstGeom>
          <a:solidFill>
            <a:srgbClr val="FBF3E5"/>
          </a:solidFill>
          <a:ln w="1397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4" y="37581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6472B"/>
                </a:solidFill>
                <a:latin typeface="Consola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77647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11480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Arial"/>
              </a:rPr>
              <a:t>lint · test · build</a:t>
            </a:r>
            <a:br/>
            <a:r>
              <a:rPr sz="1000" b="0">
                <a:solidFill>
                  <a:srgbClr val="6B6154"/>
                </a:solidFill>
                <a:latin typeface="Arial"/>
              </a:rPr>
              <a:t>gitleaks · CodeQL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7607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Consolas"/>
              </a:rPr>
              <a:t>Aynı komutlar, aynı kurallar, aynı kabul kriterleri: insan ve agent aynı hattı kullanır.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10 / PROJE YÖNETIMI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Sprint 0’dan MVP’ye.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645920" cy="146304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860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S0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060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1814"/>
                </a:solidFill>
                <a:latin typeface="Arial Black"/>
              </a:rPr>
              <a:t>Kurulum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2004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D7355"/>
                </a:solidFill>
                <a:latin typeface="Consolas"/>
              </a:rPr>
              <a:t>TAMAM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74320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Consolas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2148840"/>
            <a:ext cx="1645920" cy="146304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22860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26060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1814"/>
                </a:solidFill>
                <a:latin typeface="Arial Black"/>
              </a:rPr>
              <a:t>Auth +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32004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D7355"/>
                </a:solidFill>
                <a:latin typeface="Consolas"/>
              </a:rPr>
              <a:t>TAMAM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274320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Consolas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2148840"/>
            <a:ext cx="1645920" cy="146304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22860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S2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26060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1814"/>
                </a:solidFill>
                <a:latin typeface="Arial Black"/>
              </a:rPr>
              <a:t>Yerler + spike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32004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KISMİ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5896" y="274320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Consolas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2783" y="2148840"/>
            <a:ext cx="1645920" cy="146304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2860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6060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1814"/>
                </a:solidFill>
                <a:latin typeface="Arial Black"/>
              </a:rPr>
              <a:t>AI MVP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2004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D7355"/>
                </a:solidFill>
                <a:latin typeface="Consolas"/>
              </a:rPr>
              <a:t>TAMAM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8704" y="274320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Consolas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2148840"/>
            <a:ext cx="1645920" cy="146304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22860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S4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26060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1814"/>
                </a:solidFill>
                <a:latin typeface="Arial Black"/>
              </a:rPr>
              <a:t>Düzenleme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32004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KISMİ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274320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Consolas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2148840"/>
            <a:ext cx="1645920" cy="146304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68128" y="22860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S5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8128" y="26060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1814"/>
                </a:solidFill>
                <a:latin typeface="Arial Black"/>
              </a:rPr>
              <a:t>Kalite +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68128" y="32004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DEVAM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1605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RİSKLER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4133087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814"/>
                </a:solidFill>
                <a:latin typeface="Arial"/>
              </a:rPr>
              <a:t>LLM halüsinasyonu · kota/maliyet · prompt injection · Google Maps faturası · kapsam kayması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8006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RİTİM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4773168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814"/>
                </a:solidFill>
                <a:latin typeface="Arial"/>
              </a:rPr>
              <a:t>2 haftalık sprint · günlük async standup · review + retro · her iş branch + PR + yeşil CI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5778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Consolas"/>
              </a:rPr>
              <a:t>Takım: PO + frontend · Scrum Master + backend/AI · designer · database · frontend/test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11 / KALITE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Kanıt: testler ve CI.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0">
                <a:solidFill>
                  <a:srgbClr val="B6472B"/>
                </a:solidFill>
                <a:latin typeface="Arial Black"/>
              </a:rPr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71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API TESTİ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20240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0">
                <a:solidFill>
                  <a:srgbClr val="B6472B"/>
                </a:solidFill>
                <a:latin typeface="Arial Blac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971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WEB TESTİ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20240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0">
                <a:solidFill>
                  <a:srgbClr val="6D7355"/>
                </a:solidFill>
                <a:latin typeface="Arial Black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971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1814"/>
                </a:solidFill>
                <a:latin typeface="Consolas"/>
              </a:rPr>
              <a:t>AUDIT BULGUSU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749039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154"/>
                </a:solidFill>
                <a:latin typeface="Arial"/>
              </a:rPr>
              <a:t>Lint · typecheck · test · build · audit · gitleaks · CodeQL · Semgrep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43400"/>
            <a:ext cx="10881360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26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Kritik akışlar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92040"/>
            <a:ext cx="10332720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00">
                <a:solidFill>
                  <a:srgbClr val="1B1814"/>
                </a:solidFill>
                <a:latin typeface="Arial"/>
              </a:rPr>
              <a:t>•  Auth başarı + hata yolları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00">
                <a:solidFill>
                  <a:srgbClr val="1B1814"/>
                </a:solidFill>
                <a:latin typeface="Arial"/>
              </a:rPr>
              <a:t>•  Gezi doğrulama ve sahiplik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00">
                <a:solidFill>
                  <a:srgbClr val="1B1814"/>
                </a:solidFill>
                <a:latin typeface="Arial"/>
              </a:rPr>
              <a:t>•  Offline plan + halüsinasyon filtresi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00">
                <a:solidFill>
                  <a:srgbClr val="1B1814"/>
                </a:solidFill>
                <a:latin typeface="Arial"/>
              </a:rPr>
              <a:t>•  Prompt sınırı + fallback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00">
                <a:solidFill>
                  <a:srgbClr val="1B1814"/>
                </a:solidFill>
                <a:latin typeface="Arial"/>
              </a:rPr>
              <a:t>•  Landing, login, korumalı rota, boş liste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1185855" cy="18288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 Black"/>
              </a:rPr>
              <a:t>WAYORA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2976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/ ROTASYON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2062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B6154"/>
                </a:solidFill>
                <a:latin typeface="Consolas"/>
              </a:rPr>
              <a:t>12 /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48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>
                <a:solidFill>
                  <a:srgbClr val="1B1814"/>
                </a:solidFill>
                <a:latin typeface="Arial Black"/>
              </a:rPr>
              <a:t>5 dakikada uçtan uca.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57839" cy="13716"/>
          </a:xfrm>
          <a:prstGeom prst="rect">
            <a:avLst/>
          </a:prstGeom>
          <a:solidFill>
            <a:srgbClr val="1B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B6154"/>
                </a:solidFill>
                <a:latin typeface="Consolas"/>
              </a:rPr>
              <a:t>WAYORA / ROTASYON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B1814"/>
                </a:solidFill>
                <a:latin typeface="Consolas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65960"/>
            <a:ext cx="1874519" cy="164592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1031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39572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814"/>
                </a:solidFill>
                <a:latin typeface="Arial Black"/>
              </a:rPr>
              <a:t>Kayıt 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834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E-posta + şifre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965960"/>
            <a:ext cx="1874519" cy="164592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936" y="21031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239572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814"/>
                </a:solidFill>
                <a:latin typeface="Arial Black"/>
              </a:rPr>
              <a:t>Tercihleri seç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2834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Müze + yemek, orta bütçe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1965960"/>
            <a:ext cx="1874519" cy="164592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1496" y="21031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239572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814"/>
                </a:solidFill>
                <a:latin typeface="Arial Black"/>
              </a:rPr>
              <a:t>Paris, 3 gün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2834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500 € bütçe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1965960"/>
            <a:ext cx="1874519" cy="164592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6055" y="21031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6055" y="239572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814"/>
                </a:solidFill>
                <a:latin typeface="Arial Black"/>
              </a:rPr>
              <a:t>Planı üret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5" y="2834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AI ile gün gün 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1965960"/>
            <a:ext cx="1874519" cy="1645920"/>
          </a:xfrm>
          <a:prstGeom prst="rect">
            <a:avLst/>
          </a:prstGeom>
          <a:solidFill>
            <a:srgbClr val="FBF3E5"/>
          </a:solidFill>
          <a:ln w="12700">
            <a:solidFill>
              <a:srgbClr val="1B18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0616" y="21031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6472B"/>
                </a:solidFill>
                <a:latin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239572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814"/>
                </a:solidFill>
                <a:latin typeface="Arial Black"/>
              </a:rPr>
              <a:t>Düzenle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2834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Arial"/>
              </a:rPr>
              <a:t>Aktivite ekle / sil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2976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B6472B"/>
                </a:solidFill>
                <a:latin typeface="Arial Black"/>
              </a:rPr>
              <a:t>5:00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52628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1814"/>
                </a:solidFill>
                <a:latin typeface="Arial"/>
              </a:rPr>
              <a:t>Demo hedefi: kayıttan düzenlenmiş plana kadar tek akış.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440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154"/>
                </a:solidFill>
                <a:latin typeface="Consolas"/>
              </a:rPr>
              <a:t>http://localhost:5180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760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6154"/>
                </a:solidFill>
                <a:latin typeface="Consolas"/>
              </a:rPr>
              <a:t>E2E: e2e-1792740709@example.com / parola123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4EADA"/>
                </a:solidFill>
                <a:latin typeface="Consolas"/>
              </a:rPr>
              <a:t>WAYORA / ROTASYON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800" b="0">
                <a:solidFill>
                  <a:srgbClr val="F4EADA"/>
                </a:solidFill>
                <a:latin typeface="Arial Black"/>
              </a:rPr>
              <a:t>SORULAR?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4231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4EADA"/>
                </a:solidFill>
                <a:latin typeface="Arial"/>
              </a:rPr>
              <a:t>Sırada: harita pinleri, sürükle-bırak, kısmi AI üretimi, deploy ve paylaşılabilir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429000"/>
            <a:ext cx="10881360" cy="18288"/>
          </a:xfrm>
          <a:prstGeom prst="rect">
            <a:avLst/>
          </a:prstGeom>
          <a:solidFill>
            <a:srgbClr val="B6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657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4EADA"/>
                </a:solidFill>
                <a:latin typeface="Arial Black"/>
              </a:rPr>
              <a:t>Teşekkürler.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4348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154"/>
                </a:solidFill>
                <a:latin typeface="Consolas"/>
              </a:rPr>
              <a:t>Bayram Selim Yılmaz · Mehmet Emin Akkaya · Ezgi Turan · Aykut Kayra Akkuş · Berfin Aksoy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074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6472B"/>
                </a:solidFill>
                <a:latin typeface="Consolas"/>
              </a:rPr>
              <a:t>github.com/mehmeteminakkaya/wayora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6154"/>
                </a:solidFill>
                <a:latin typeface="Consolas"/>
              </a:rPr>
              <a:t>JOB-191 · İstinye Üniversitesi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